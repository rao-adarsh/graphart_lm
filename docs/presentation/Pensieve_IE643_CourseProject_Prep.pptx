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[0:00-0:25] Hello - I'm Adarsh A Rao, roll number 24B2132, Team Pensieve. My allotted topic</a:t>
            </a:r>
          </a:p>
          <a:p>
            <a:r>
              <a:t>is "Making large models draw topological graphs": can a model read code it is not allowed</a:t>
            </a:r>
          </a:p>
          <a:p>
            <a:r>
              <a:t>to run, and output the graph that code builds? The version an ML audience knows is</a:t>
            </a:r>
          </a:p>
          <a:p>
            <a:r>
              <a:t>torch.fx, which traces a network into a computation DAG - but fx node names depend on the</a:t>
            </a:r>
          </a:p>
          <a:p>
            <a:r>
              <a:t>object you traced, so correct answers cannot be compared automatically. Quantum circuit</a:t>
            </a:r>
          </a:p>
          <a:p>
            <a:r>
              <a:t>DAGs give the same structure with an exact, machine-checkable answer, so that is what I</a:t>
            </a:r>
          </a:p>
          <a:p>
            <a:r>
              <a:t>measure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[0:25-0:45] The strip at the bottom is the whole framing: allotted task, the reference</a:t>
            </a:r>
          </a:p>
          <a:p>
            <a:r>
              <a:t>instance, and what I actually measure on. I'll give you just enough quantum background to</a:t>
            </a:r>
          </a:p>
          <a:p>
            <a:r>
              <a:t>read the pictures, then the task, the background reading, what is built, the dataset, and</a:t>
            </a:r>
          </a:p>
          <a:p>
            <a:r>
              <a:t>where I 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[0:45-1:20] All the quantum you need is on this slide. Five lines of Qiskit on the left</a:t>
            </a:r>
          </a:p>
          <a:p>
            <a:r>
              <a:t>build the circuit on the right. A qubit is a wire and time runs left to right. A gate is a</a:t>
            </a:r>
          </a:p>
          <a:p>
            <a:r>
              <a:t>box sitting on a wire - H, X and RZ each touch one. CX touches two: a control dot and a</a:t>
            </a:r>
          </a:p>
          <a:p>
            <a:r>
              <a:t>target plus. And the structural fact everything depends on: a circuit is a straight-line</a:t>
            </a:r>
          </a:p>
          <a:p>
            <a:r>
              <a:t>program. No branching at run time, just a fixed sequence of operations over fixed wires.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[1:20-2:05] Same circuit, different question: what depends on what? Every operation becomes</a:t>
            </a:r>
          </a:p>
          <a:p>
            <a:r>
              <a:t>a node. I draw an arrow from A to B when B is the next thing that happens on some wire</a:t>
            </a:r>
          </a:p>
          <a:p>
            <a:r>
              <a:t>after A, and I label the arrow with that wire. H is first on qubit zero, then the CX -</a:t>
            </a:r>
          </a:p>
          <a:p>
            <a:r>
              <a:t>blue. X is first on qubit one, then the CX - orange. Then CX to RZ. Every wire is a chain,</a:t>
            </a:r>
          </a:p>
          <a:p>
            <a:r>
              <a:t>and time only moves forwards, so there can never be a cycle. It is a DAG. And look at the</a:t>
            </a:r>
          </a:p>
          <a:p>
            <a:r>
              <a:t>banner: H on qubit zero and X on qubit one are independent, so swapping those two lines in</a:t>
            </a:r>
          </a:p>
          <a:p>
            <a:r>
              <a:t>the code gives an identical DAG. The correct answer is a graph, not a sequence - which is</a:t>
            </a:r>
          </a:p>
          <a:p>
            <a:r>
              <a:t>why I compare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[2:05-2:40] Where does the correct answer come from? QuantumCircuit of n gives me n wires,</a:t>
            </a:r>
          </a:p>
          <a:p>
            <a:r>
              <a:t>each method call appends one operation, and then the last line - circuit_to_dag - hands me</a:t>
            </a:r>
          </a:p>
          <a:p>
            <a:r>
              <a:t>the answer. I did not write that function. DAGCircuit is the representation Qiskit's own</a:t>
            </a:r>
          </a:p>
          <a:p>
            <a:r>
              <a:t>compiler uses to cancel gates and route qubits onto hardware. So my entire labelling</a:t>
            </a:r>
          </a:p>
          <a:p>
            <a:r>
              <a:t>pipeline is: generate a program, run it, call the converter. Exact labels, no annotation, as</a:t>
            </a:r>
          </a:p>
          <a:p>
            <a:r>
              <a:t>many as I want. The model gets the source text and nothing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[2:40-3:10] The task in one picture. Left, the input: plain Python. Right, the output: the</a:t>
            </a:r>
          </a:p>
          <a:p>
            <a:r>
              <a:t>DAG as text in a fixed format - four node lines, then three edge lines, each naming its</a:t>
            </a:r>
          </a:p>
          <a:p>
            <a:r>
              <a:t>wire. The chips at the bottom give the grammar. The one that matters is the last: the ids</a:t>
            </a:r>
          </a:p>
          <a:p>
            <a:r>
              <a:t>are the model's own choice, so numbering the nodes differently but consistently is still</a:t>
            </a:r>
          </a:p>
          <a:p>
            <a:r>
              <a:t>correct, and my metrics compare graphs up to isomorphism.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[3:10-3:50] Four difficulties. It has to unroll loops, expand calls and discard dead</a:t>
            </a:r>
          </a:p>
          <a:p>
            <a:r>
              <a:t>branches. It has to track the last operation on every wire, with no scratch memory except</a:t>
            </a:r>
          </a:p>
          <a:p>
            <a:r>
              <a:t>the tokens it has already written - which is a strong hint that chain-of-thought will</a:t>
            </a:r>
          </a:p>
          <a:p>
            <a:r>
              <a:t>matter. It is brittle: one missed gate breaks a chain and the graph stops being valid. And</a:t>
            </a:r>
          </a:p>
          <a:p>
            <a:r>
              <a:t>the tokenisation problem, which is easy to underestimate - "rz open-bracket zero point</a:t>
            </a:r>
          </a:p>
          <a:p>
            <a:r>
              <a:t>seven-eight-five" comes apart into eight tokens, and q12 is never one symbol. My output is</a:t>
            </a:r>
          </a:p>
          <a:p>
            <a:r>
              <a:t>almost entirely numbers. CRUXEval measured exactly this gap between writing code and</a:t>
            </a:r>
          </a:p>
          <a:p>
            <a:r>
              <a:t>predicting what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[3:50-4:30] The TA confirmed any approach is fine as long as the results are good, so I</a:t>
            </a:r>
          </a:p>
          <a:p>
            <a:r>
              <a:t>planned all three, cheapest first, and they became my phases. Prompting touches only the</a:t>
            </a:r>
          </a:p>
          <a:p>
            <a:r>
              <a:t>input. LoRA freezes the pretrained weights and trains small adapters alongside - under one</a:t>
            </a:r>
          </a:p>
          <a:p>
            <a:r>
              <a:t>percent of the parameters, which is what puts a one-billion model on a free Colab GPU.</a:t>
            </a:r>
          </a:p>
          <a:p>
            <a:r>
              <a:t>From scratch starts from random weights, normally hopeless, but my language is tiny and</a:t>
            </a:r>
          </a:p>
          <a:p>
            <a:r>
              <a:t>synthetic. The orange strip on each card is what I expect to go wrong, and those three</a:t>
            </a:r>
          </a:p>
          <a:p>
            <a:r>
              <a:t>failures are different enough that the comparison is informative either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[4:30-5:15] On the left, the foundations I worked through, and what I took from them:</a:t>
            </a:r>
          </a:p>
          <a:p>
            <a:r>
              <a:t>generation is next-token prediction repeated, so an early mistake poisons everything after</a:t>
            </a:r>
          </a:p>
          <a:p>
            <a:r>
              <a:t>it; attention is the mechanism that lets the model look back and find the last node on a</a:t>
            </a:r>
          </a:p>
          <a:p>
            <a:r>
              <a:t>wire - which is literally my task; and on the local model I decode greedily; the current hosted models no longer expose</a:t>
            </a:r>
          </a:p>
          <a:p>
            <a:r>
              <a:t>temperature at all, so what I record with every result is the model version and the effort</a:t>
            </a:r>
          </a:p>
          <a:p>
            <a:r>
              <a:t>level. That matters because the answer is</a:t>
            </a:r>
          </a:p>
          <a:p>
            <a:r>
              <a:t>structured. On the right, the directly related work. Talk like a Graph shows the text</a:t>
            </a:r>
          </a:p>
          <a:p>
            <a:r>
              <a:t>encoding of a graph changes accuracy, so my output format is a variable to test rather than</a:t>
            </a:r>
          </a:p>
          <a:p>
            <a:r>
              <a:t>a matter of taste. CRUXEval is the input half of my problem. Qiskit HumanEval is the</a:t>
            </a:r>
          </a:p>
          <a:p>
            <a:r>
              <a:t>reverse direction and my source of real code. And the gap at the bottom: no public dataset</a:t>
            </a:r>
          </a:p>
          <a:p>
            <a:r>
              <a:t>of code-to-DAG pairs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[5:15-6:00] This is the machinery, and it is worth thirty seconds because everything else</a:t>
            </a:r>
          </a:p>
          <a:p>
            <a:r>
              <a:t>rests on it. Top row builds the data. generate.py writes a random Qiskit program.</a:t>
            </a:r>
          </a:p>
          <a:p>
            <a:r>
              <a:t>extract.py actually runs that program and asks Qiskit for the true DAG. schema.py turns</a:t>
            </a:r>
          </a:p>
          <a:p>
            <a:r>
              <a:t>that DAG into the text format you saw earlier - that text is the target. Bottom row is the</a:t>
            </a:r>
          </a:p>
          <a:p>
            <a:r>
              <a:t>experiment. The orange arrow is important: the model receives the code only - never the</a:t>
            </a:r>
          </a:p>
          <a:p>
            <a:r>
              <a:t>circuit, never the answer. Its reply goes back through schema.py to be parsed, validate.py</a:t>
            </a:r>
          </a:p>
          <a:p>
            <a:r>
              <a:t>asks whether it is even a well-formed DAG, and metrics.py asks how close it is to the</a:t>
            </a:r>
          </a:p>
          <a:p>
            <a:r>
              <a:t>truth. Seven modules under graphart/, all working, and the runner and scorer in pipeline/ are</a:t>
            </a:r>
          </a:p>
          <a:p>
            <a:r>
              <a:t>written and dry-run end to end. The one thing left is pointing it at a real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[6:00-6:35] The dataset is four tiers, and the point is on the line under the table: the</a:t>
            </a:r>
          </a:p>
          <a:p>
            <a:r>
              <a:t>tiers change how well the code hides the circuit, not how big the circuit is. Tier one is</a:t>
            </a:r>
          </a:p>
          <a:p>
            <a:r>
              <a:t>flat, tier two adds loops, tier three adds functions and control flow, tier four is</a:t>
            </a:r>
          </a:p>
          <a:p>
            <a:r>
              <a:t>textbook algorithms. That gives me my first research question almost for free - plot</a:t>
            </a:r>
          </a:p>
          <a:p>
            <a:r>
              <a:t>accuracy against tier and you are measuring how much difficulty comes from the code rather</a:t>
            </a:r>
          </a:p>
          <a:p>
            <a:r>
              <a:t>than from the graph. The next four slides show one real example from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[6:35-6:55] Tier one. Every operation is written out on its own line, so reading the code</a:t>
            </a:r>
          </a:p>
          <a:p>
            <a:r>
              <a:t>is transcription. The only real work is the edges - noticing that the swap at the end</a:t>
            </a:r>
          </a:p>
          <a:p>
            <a:r>
              <a:t>follows the z on qubit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[6:55-7:20] Tier two. Two loops over five qubits. Ten operations, five completely</a:t>
            </a:r>
          </a:p>
          <a:p>
            <a:r>
              <a:t>independent chains - and not one of those ten operations appears literally in the code. The</a:t>
            </a:r>
          </a:p>
          <a:p>
            <a:r>
              <a:t>model has to run the loop in its head, including the angle pi over i plus one changing each</a:t>
            </a:r>
          </a:p>
          <a:p>
            <a:r>
              <a:t>iteration.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[7:20-7:50] Tier three, which is where it gets interesting. The if-else on the loop index</a:t>
            </a:r>
          </a:p>
          <a:p>
            <a:r>
              <a:t>puts RX on the even qubits and RZ on the odd ones. Then a nested loop produces six cx</a:t>
            </a:r>
          </a:p>
          <a:p>
            <a:r>
              <a:t>gates in a specific order. Ten operations again, exactly like tier one - but none of them</a:t>
            </a:r>
          </a:p>
          <a:p>
            <a:r>
              <a:t>are written down, and getting the edges right means tracking four wires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[7:50-8:15] Tier four is textbook algorithms - this one is a GHZ state with measurement.</a:t>
            </a:r>
          </a:p>
          <a:p>
            <a:r>
              <a:t>Two things to notice: the model has to recognise the pattern rather than just read it, and</a:t>
            </a:r>
          </a:p>
          <a:p>
            <a:r>
              <a:t>measurement brings classical bits in, so those nodes carry both a qubit and a clbit and the</a:t>
            </a:r>
          </a:p>
          <a:p>
            <a:r>
              <a:t>graph now has two kinds of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[8:15-8:50] Curation, since the instructions ask for it specifically. One command, fixed</a:t>
            </a:r>
          </a:p>
          <a:p>
            <a:r>
              <a:t>seed, nothing labelled by hand. Two safeguards matter. Every ground-truth graph goes</a:t>
            </a:r>
          </a:p>
          <a:p>
            <a:r>
              <a:t>through my own validator before it is kept, so a malformed extraction fails the build</a:t>
            </a:r>
          </a:p>
          <a:p>
            <a:r>
              <a:t>rather than quietly poisoning the data. And I deduplicate on the graph itself across the</a:t>
            </a:r>
          </a:p>
          <a:p>
            <a:r>
              <a:t>whole dataset, so no DAG can appear in both train and test - memorising cannot score. The</a:t>
            </a:r>
          </a:p>
          <a:p>
            <a:r>
              <a:t>last line matters for phase two: five hundred per tier is deliberate for prompting, and the</a:t>
            </a:r>
          </a:p>
          <a:p>
            <a:r>
              <a:t>generator scales to four thousand per tier when fine-tuning needs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[8:50-9:25] My generated data has one weakness: a house style. A fixed vocabulary of gates,</a:t>
            </a:r>
          </a:p>
          <a:p>
            <a:r>
              <a:t>a fixed set of code shapes. A model could learn my generator's habits instead of the rule,</a:t>
            </a:r>
          </a:p>
          <a:p>
            <a:r>
              <a:t>and my own test split would never tell me. So I bring in real code. The key point is the</a:t>
            </a:r>
          </a:p>
          <a:p>
            <a:r>
              <a:t>line in the middle: every one of these ends up as a Qiskit QuantumCircuit object - either</a:t>
            </a:r>
          </a:p>
          <a:p>
            <a:r>
              <a:t>by running the Python, or by loading OpenQASM - and then the same circuit_to_dag gives me</a:t>
            </a:r>
          </a:p>
          <a:p>
            <a:r>
              <a:t>the ground truth and the same metrics score it. No separate evaluation path, so no way to</a:t>
            </a:r>
          </a:p>
          <a:p>
            <a:r>
              <a:t>flatter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[9:25-10:05] Four metrics. Valid is a structural check that never looks at the correct</a:t>
            </a:r>
          </a:p>
          <a:p>
            <a:r>
              <a:t>answer: does it parse, no cycles, do each edge's wires belong to both endpoints, is each</a:t>
            </a:r>
          </a:p>
          <a:p>
            <a:r>
              <a:t>wire one unbroken chain. That separates nonsense from well-formed-but-wrong, which are very</a:t>
            </a:r>
          </a:p>
          <a:p>
            <a:r>
              <a:t>different failures. Exact is the headline - the same graph, by labelled isomorphism. The two</a:t>
            </a:r>
          </a:p>
          <a:p>
            <a:r>
              <a:t>F1 scores give partial credit so I can see progress before anything is exactly right. The</a:t>
            </a:r>
          </a:p>
          <a:p>
            <a:r>
              <a:t>box at the bottom is the sanity check on the metrics themselves: a correct graph scores one;</a:t>
            </a:r>
          </a:p>
          <a:p>
            <a:r>
              <a:t>change one gate and it is still valid but no longer exact; delete one edge and the validator</a:t>
            </a:r>
          </a:p>
          <a:p>
            <a:r>
              <a:t>names the broken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[10:05-10:55] So where am I? Honestly: the infrastructure is done and verified, and the</a:t>
            </a:r>
          </a:p>
          <a:p>
            <a:r>
              <a:t>model experiments have not been run. That sanity check is my evidence the harness works.</a:t>
            </a:r>
          </a:p>
          <a:p>
            <a:r>
              <a:t>The dataset is built - about sixteen hundred samples - and I have inspected an example from</a:t>
            </a:r>
          </a:p>
          <a:p>
            <a:r>
              <a:t>each tier, which you have just seen. The whole Phase-1 harness is written too - four prompt variants, a runner</a:t>
            </a:r>
          </a:p>
          <a:p>
            <a:r>
              <a:t>with a hosted and a local backend, and a scorer - and I have dry-run it end to end. What I</a:t>
            </a:r>
          </a:p>
          <a:p>
            <a:r>
              <a:t>have not done is call a real model, and I would rather stand here with no numbers than with</a:t>
            </a:r>
          </a:p>
          <a:p>
            <a:r>
              <a:t>numbers I cannot defend.</a:t>
            </a:r>
          </a:p>
          <a:p>
            <a:r>
              <a:t>The experiment I most want is the ablation: the model outputs only the gate list, and a</a:t>
            </a:r>
          </a:p>
          <a:p>
            <a:r>
              <a:t>small module builds the edges from it. I checked that edge-builder against all one hundred</a:t>
            </a:r>
          </a:p>
          <a:p>
            <a:r>
              <a:t>and sixty test samples and it reproduces the ground truth exactly - so whatever it scores is</a:t>
            </a:r>
          </a:p>
          <a:p>
            <a:r>
              <a:t>purely the model's reading of the code. If the score jumps, the hard part is the graph. If</a:t>
            </a:r>
          </a:p>
          <a:p>
            <a:r>
              <a:t>it does not, the hard part is executing the code. That splits my problem in half, cheaply.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[10:55-11:30] The roadmap, cheapest first, so every phase gives a usable result even if the</a:t>
            </a:r>
          </a:p>
          <a:p>
            <a:r>
              <a:t>next one does not happen. Phase one is prompting - the next two weeks. Phase two is LoRA</a:t>
            </a:r>
          </a:p>
          <a:p>
            <a:r>
              <a:t>fine-tuning a small open code model on a free GPU, and the interesting question is whether a</a:t>
            </a:r>
          </a:p>
          <a:p>
            <a:r>
              <a:t>fine-tuned one-billion model beats a prompted frontier model on a task this narrow. Phase</a:t>
            </a:r>
          </a:p>
          <a:p>
            <a:r>
              <a:t>three, if there is time, is a tiny transformer from scratch. Phase four is the</a:t>
            </a:r>
          </a:p>
          <a:p>
            <a:r>
              <a:t>generalisation tests, including going back to torch.fx as a second domain. Phase five is a</a:t>
            </a:r>
          </a:p>
          <a:p>
            <a:r>
              <a:t>small interface. The four immediate subtasks are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[11:30-12:05] Which brings me to the four questions I want to answer. How does accuracy fall</a:t>
            </a:r>
          </a:p>
          <a:p>
            <a:r>
              <a:t>as the code hides more of the structure - and is that a different curve from the circuit</a:t>
            </a:r>
          </a:p>
          <a:p>
            <a:r>
              <a:t>simply getting bigger? Is the hard part executing the code, or building the graph?</a:t>
            </a:r>
          </a:p>
          <a:p>
            <a:r>
              <a:t>Prompting, fine-tuning or from scratch - best accuracy for the compute spent? And do the</a:t>
            </a:r>
          </a:p>
          <a:p>
            <a:r>
              <a:t>models learn the rule or memorise the pattern? Bigger circuits, held-out constructs and real</a:t>
            </a:r>
          </a:p>
          <a:p>
            <a:r>
              <a:t>code will tell me.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up during questions. Format follows the course instruction: authors, title, venue,</a:t>
            </a:r>
          </a:p>
          <a:p>
            <a:r>
              <a:t>year, URL for papers; authors, URL, access date for websites.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B5B92"/>
                </a:solidFill>
                <a:latin typeface="Calibri"/>
              </a:rPr>
              <a:t>PREP PRESENTATION — IE 643 COURSE PROJECT, AUTUMN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3764"/>
                </a:solidFill>
                <a:latin typeface="Calibri"/>
              </a:rPr>
              <a:t>Making Large Models Draw Topological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290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5A626E"/>
                </a:solidFill>
                <a:latin typeface="Calibri"/>
              </a:rPr>
              <a:t>Teaching a language model to read quantum-circuit code and draw the circuit's DAG — without running the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43400"/>
            <a:ext cx="2926080" cy="31750"/>
          </a:xfrm>
          <a:prstGeom prst="rect">
            <a:avLst/>
          </a:prstGeom>
          <a:solidFill>
            <a:srgbClr val="3B5B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177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764"/>
                </a:solidFill>
                <a:latin typeface="Calibri"/>
              </a:rPr>
              <a:t>Team Pensieve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 b="0" i="0">
                <a:solidFill>
                  <a:srgbClr val="262B33"/>
                </a:solidFill>
                <a:latin typeface="Calibri"/>
              </a:rPr>
              <a:t>Adarsh A Rao   ·   Roll No. 24B2132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5A626E"/>
                </a:solidFill>
                <a:latin typeface="Calibri"/>
              </a:rPr>
              <a:t>Indian Institute of Technology Bombay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3764"/>
                </a:solidFill>
                <a:latin typeface="Calibri"/>
              </a:rP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Bef>
                <a:spcPts val="0"/>
              </a:spcBef>
            </a:pPr>
            <a:r>
              <a:rPr sz="1800">
                <a:solidFill>
                  <a:srgbClr val="3B5B92"/>
                </a:solidFill>
                <a:latin typeface="Calibri"/>
              </a:rPr>
              <a:t>▸  </a:t>
            </a:r>
            <a:r>
              <a:rPr sz="1900" b="0">
                <a:solidFill>
                  <a:srgbClr val="262B33"/>
                </a:solidFill>
                <a:latin typeface="Calibri"/>
              </a:rPr>
              <a:t>Background: what a quantum circuit is, and why a circuit is a DAG</a:t>
            </a:r>
          </a:p>
          <a:p>
            <a:pPr marL="274320" indent="-274320">
              <a:spcBef>
                <a:spcPts val="1600"/>
              </a:spcBef>
            </a:pPr>
            <a:r>
              <a:rPr sz="1800">
                <a:solidFill>
                  <a:srgbClr val="3B5B92"/>
                </a:solidFill>
                <a:latin typeface="Calibri"/>
              </a:rPr>
              <a:t>▸  </a:t>
            </a:r>
            <a:r>
              <a:rPr sz="1900" b="0">
                <a:solidFill>
                  <a:srgbClr val="262B33"/>
                </a:solidFill>
                <a:latin typeface="Calibri"/>
              </a:rPr>
              <a:t>The task stated precisely, and why it is hard for a language model</a:t>
            </a:r>
          </a:p>
          <a:p>
            <a:pPr marL="274320" indent="-274320">
              <a:spcBef>
                <a:spcPts val="1600"/>
              </a:spcBef>
            </a:pPr>
            <a:r>
              <a:rPr sz="1800">
                <a:solidFill>
                  <a:srgbClr val="3B5B92"/>
                </a:solidFill>
                <a:latin typeface="Calibri"/>
              </a:rPr>
              <a:t>▸  </a:t>
            </a:r>
            <a:r>
              <a:rPr sz="1900" b="0">
                <a:solidFill>
                  <a:srgbClr val="262B33"/>
                </a:solidFill>
                <a:latin typeface="Calibri"/>
              </a:rPr>
              <a:t>Background material read, and the three ways to adapt a model</a:t>
            </a:r>
          </a:p>
          <a:p>
            <a:pPr marL="274320" indent="-274320">
              <a:spcBef>
                <a:spcPts val="1600"/>
              </a:spcBef>
            </a:pPr>
            <a:r>
              <a:rPr sz="1800">
                <a:solidFill>
                  <a:srgbClr val="3B5B92"/>
                </a:solidFill>
                <a:latin typeface="Calibri"/>
              </a:rPr>
              <a:t>▸  </a:t>
            </a:r>
            <a:r>
              <a:rPr sz="1900" b="0">
                <a:solidFill>
                  <a:srgbClr val="262B33"/>
                </a:solidFill>
                <a:latin typeface="Calibri"/>
              </a:rPr>
              <a:t>What we have built: generator, ground truth, validator, metrics</a:t>
            </a:r>
          </a:p>
          <a:p>
            <a:pPr marL="274320" indent="-274320">
              <a:spcBef>
                <a:spcPts val="1600"/>
              </a:spcBef>
            </a:pPr>
            <a:r>
              <a:rPr sz="1800">
                <a:solidFill>
                  <a:srgbClr val="3B5B92"/>
                </a:solidFill>
                <a:latin typeface="Calibri"/>
              </a:rPr>
              <a:t>▸  </a:t>
            </a:r>
            <a:r>
              <a:rPr sz="1900" b="0">
                <a:solidFill>
                  <a:srgbClr val="262B33"/>
                </a:solidFill>
                <a:latin typeface="Calibri"/>
              </a:rPr>
              <a:t>The dataset: four difficulty tiers, with an example of each</a:t>
            </a:r>
          </a:p>
          <a:p>
            <a:pPr marL="274320" indent="-274320">
              <a:spcBef>
                <a:spcPts val="1600"/>
              </a:spcBef>
            </a:pPr>
            <a:r>
              <a:rPr sz="1800">
                <a:solidFill>
                  <a:srgbClr val="3B5B92"/>
                </a:solidFill>
                <a:latin typeface="Calibri"/>
              </a:rPr>
              <a:t>▸  </a:t>
            </a:r>
            <a:r>
              <a:rPr sz="1900" b="0">
                <a:solidFill>
                  <a:srgbClr val="262B33"/>
                </a:solidFill>
                <a:latin typeface="Calibri"/>
              </a:rPr>
              <a:t>Where we stand today, the roadmap of subtasks, and the research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3200400" cy="96012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524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B5B92"/>
                </a:solidFill>
                <a:latin typeface="Calibri"/>
              </a:rPr>
              <a:t>ALLOTTED TASK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B33"/>
                </a:solidFill>
                <a:latin typeface="Calibri"/>
              </a:rPr>
              <a:t>large models draw
topological graphs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4892040"/>
            <a:ext cx="3200400" cy="96012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524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B5B92"/>
                </a:solidFill>
                <a:latin typeface="Calibri"/>
              </a:rPr>
              <a:t>REFERENCE INSTANCE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B33"/>
                </a:solidFill>
                <a:latin typeface="Calibri"/>
              </a:rPr>
              <a:t>torch.fx traces a model
into a computation DAG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42232" y="5372100"/>
            <a:ext cx="466344" cy="0"/>
          </a:xfrm>
          <a:prstGeom prst="line">
            <a:avLst/>
          </a:prstGeom>
          <a:ln w="22225">
            <a:solidFill>
              <a:srgbClr val="3B5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458200" y="4892040"/>
            <a:ext cx="3200400" cy="96012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524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B5B92"/>
                </a:solidFill>
                <a:latin typeface="Calibri"/>
              </a:rPr>
              <a:t>WHAT WE MEASURE 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B33"/>
                </a:solidFill>
                <a:latin typeface="Calibri"/>
              </a:rPr>
              <a:t>Qiskit circuit DAGs — exact
labels, checkable by machine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36992" y="5372100"/>
            <a:ext cx="466344" cy="0"/>
          </a:xfrm>
          <a:prstGeom prst="line">
            <a:avLst/>
          </a:prstGeom>
          <a:ln w="22225">
            <a:solidFill>
              <a:srgbClr val="3B5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BACKGROUND · NO PHYSICS REQUIRED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A quantum circuit, in one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3429000" cy="1444752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qc = QuantumCircuit(2)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qc.h(0)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qc.x(1)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qc.cx(0, 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qc.rz(0.785,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20"/>
            <a:ext cx="3429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5B92"/>
                </a:solidFill>
                <a:latin typeface="Calibri"/>
              </a:rPr>
              <a:t>five lines of Qiskit…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43400" y="3017520"/>
            <a:ext cx="640080" cy="0"/>
          </a:xfrm>
          <a:prstGeom prst="line">
            <a:avLst/>
          </a:prstGeom>
          <a:ln w="25400">
            <a:solidFill>
              <a:srgbClr val="3B5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60720" y="1874519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5B92"/>
                </a:solidFill>
                <a:latin typeface="Calibri"/>
              </a:rPr>
              <a:t>…build this circuit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63640" y="2606040"/>
            <a:ext cx="4160519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60720" y="245973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q0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63640" y="3566160"/>
            <a:ext cx="4160519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60720" y="341985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3760E"/>
                </a:solidFill>
                <a:latin typeface="Calibri"/>
              </a:rPr>
              <a:t>q1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57416" y="2395728"/>
            <a:ext cx="566928" cy="420624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764"/>
                </a:solidFill>
                <a:latin typeface="Calibri"/>
              </a:rPr>
              <a:t>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57416" y="3355848"/>
            <a:ext cx="566928" cy="420624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764"/>
                </a:solidFill>
                <a:latin typeface="Calibri"/>
              </a:rPr>
              <a:t>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0" y="2606040"/>
            <a:ext cx="0" cy="960120"/>
          </a:xfrm>
          <a:prstGeom prst="line">
            <a:avLst/>
          </a:prstGeom>
          <a:ln w="1778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156448" y="2532888"/>
            <a:ext cx="146304" cy="146304"/>
          </a:xfrm>
          <a:prstGeom prst="ellipse">
            <a:avLst/>
          </a:prstGeom>
          <a:solidFill>
            <a:srgbClr val="262B33"/>
          </a:solidFill>
          <a:ln w="1905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B33"/>
                </a:solidFill>
                <a:latin typeface="Calibr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8074152" y="341071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B33"/>
                </a:solidFill>
                <a:latin typeface="Calibri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5419" y="3355848"/>
            <a:ext cx="960120" cy="420624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764"/>
                </a:solidFill>
                <a:latin typeface="Calibri"/>
              </a:rPr>
              <a:t>RZ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5419" y="377647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6E"/>
                </a:solidFill>
                <a:latin typeface="Calibri"/>
              </a:rPr>
              <a:t>0.785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26280"/>
            <a:ext cx="2679192" cy="640080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764"/>
                </a:solidFill>
                <a:latin typeface="Calibri"/>
              </a:rPr>
              <a:t>a qubit is a wire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47872" y="4526280"/>
            <a:ext cx="2679192" cy="640080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764"/>
                </a:solidFill>
                <a:latin typeface="Calibri"/>
              </a:rPr>
              <a:t>a gate is a box on a wire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9944" y="4526280"/>
            <a:ext cx="2679192" cy="640080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764"/>
                </a:solidFill>
                <a:latin typeface="Calibri"/>
              </a:rPr>
              <a:t>cx spans two wires:  • control,  ⊕ 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72016" y="4526280"/>
            <a:ext cx="2679192" cy="640080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764"/>
                </a:solidFill>
                <a:latin typeface="Calibri"/>
              </a:rPr>
              <a:t>straight-line: no branching at run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BACKGROUND · THE CORE IDEA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The same circuit, as a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B5B92"/>
                </a:solidFill>
                <a:latin typeface="Calibri"/>
              </a:rPr>
              <a:t>the circuit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34440" y="2011680"/>
            <a:ext cx="4160520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86537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q0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4440" y="2971800"/>
            <a:ext cx="4160520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82549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3760E"/>
                </a:solidFill>
                <a:latin typeface="Calibri"/>
              </a:rPr>
              <a:t>q1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8216" y="1801368"/>
            <a:ext cx="566928" cy="420624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764"/>
                </a:solidFill>
                <a:latin typeface="Calibri"/>
              </a:rPr>
              <a:t>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8216" y="2761488"/>
            <a:ext cx="566928" cy="420624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764"/>
                </a:solidFill>
                <a:latin typeface="Calibri"/>
              </a:rPr>
              <a:t>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011680"/>
            <a:ext cx="0" cy="960120"/>
          </a:xfrm>
          <a:prstGeom prst="line">
            <a:avLst/>
          </a:prstGeom>
          <a:ln w="1778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127248" y="1938528"/>
            <a:ext cx="146304" cy="146304"/>
          </a:xfrm>
          <a:prstGeom prst="ellipse">
            <a:avLst/>
          </a:prstGeom>
          <a:solidFill>
            <a:srgbClr val="262B33"/>
          </a:solidFill>
          <a:ln w="1905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B33"/>
                </a:solidFill>
                <a:latin typeface="Calibri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3044952" y="281635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2B33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6220" y="2761488"/>
            <a:ext cx="960120" cy="420624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764"/>
                </a:solidFill>
                <a:latin typeface="Calibri"/>
              </a:rPr>
              <a:t>RZ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6220" y="318211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6E"/>
                </a:solidFill>
                <a:latin typeface="Calibri"/>
              </a:rPr>
              <a:t>0.785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23560" y="2468880"/>
            <a:ext cx="640080" cy="0"/>
          </a:xfrm>
          <a:prstGeom prst="line">
            <a:avLst/>
          </a:prstGeom>
          <a:ln w="25400">
            <a:solidFill>
              <a:srgbClr val="3B5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37960" y="16002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B5B92"/>
                </a:solidFill>
                <a:latin typeface="Calibri"/>
              </a:rPr>
              <a:t>its DAG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920240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0: 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6E"/>
                </a:solidFill>
                <a:latin typeface="Calibri"/>
              </a:rPr>
              <a:t>q0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880360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1: 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6E"/>
                </a:solidFill>
                <a:latin typeface="Calibri"/>
              </a:rPr>
              <a:t>q1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395728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2: cx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6E"/>
                </a:solidFill>
                <a:latin typeface="Calibri"/>
              </a:rPr>
              <a:t>q0 q1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2395728"/>
            <a:ext cx="1417320" cy="566928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587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3: rz(0.785)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6E"/>
                </a:solidFill>
                <a:latin typeface="Calibri"/>
              </a:rPr>
              <a:t>q1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0" y="2203704"/>
            <a:ext cx="548640" cy="475488"/>
          </a:xfrm>
          <a:prstGeom prst="line">
            <a:avLst/>
          </a:prstGeom>
          <a:ln w="22225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0" y="21488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77B4"/>
                </a:solidFill>
                <a:latin typeface="Calibri"/>
              </a:rPr>
              <a:t>q0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7772400" y="2679192"/>
            <a:ext cx="548640" cy="484632"/>
          </a:xfrm>
          <a:prstGeom prst="line">
            <a:avLst/>
          </a:prstGeom>
          <a:ln w="22225">
            <a:solidFill>
              <a:srgbClr val="E376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0" y="26289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3760E"/>
                </a:solidFill>
                <a:latin typeface="Calibri"/>
              </a:rPr>
              <a:t>q1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55480" y="2679192"/>
            <a:ext cx="548640" cy="0"/>
          </a:xfrm>
          <a:prstGeom prst="line">
            <a:avLst/>
          </a:prstGeom>
          <a:ln w="22225">
            <a:solidFill>
              <a:srgbClr val="E376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555480" y="23865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3760E"/>
                </a:solidFill>
                <a:latin typeface="Calibri"/>
              </a:rPr>
              <a:t>q1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160520"/>
            <a:ext cx="3593592" cy="566928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one node per operation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2272" y="4160520"/>
            <a:ext cx="3593592" cy="566928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edge  A → B  =  next operation on that wire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8744" y="4160520"/>
            <a:ext cx="3593592" cy="566928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no cycles: time only moves forward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029200"/>
            <a:ext cx="10817352" cy="749808"/>
          </a:xfrm>
          <a:prstGeom prst="roundRect">
            <a:avLst>
              <a:gd name="adj" fmla="val 15000"/>
            </a:avLst>
          </a:prstGeom>
          <a:solidFill>
            <a:srgbClr val="FDF3E3"/>
          </a:solidFill>
          <a:ln w="1778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62B33"/>
                </a:solidFill>
                <a:latin typeface="Calibri"/>
              </a:rPr>
              <a:t>qc.h(0) and qc.x(1) can be written in either order and give the same DAG — so we compare graphs, not gate lists.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BACKGROUND · GROUND TRUTH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Where the correct answer comes from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5349240" cy="278892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from qiskit import QuantumCircuit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from qiskit.converters import circuit_to_dag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qc = QuantumCircuit(2)     # two wires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qc.h(0)                    # append 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qc.x(1)                    # operation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qc.cx(0, 1)                # per call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qc.rz(0.785, 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dag = circuit_to_dag(qc)   # DAGCircuit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5B92"/>
                </a:solidFill>
                <a:latin typeface="Calibri"/>
              </a:rPr>
              <a:t>the entire labelling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10312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Bef>
                <a:spcPts val="0"/>
              </a:spcBef>
            </a:pPr>
            <a:r>
              <a:rPr sz="1600">
                <a:solidFill>
                  <a:srgbClr val="3B5B92"/>
                </a:solidFill>
                <a:latin typeface="Calibri"/>
              </a:rPr>
              <a:t>▸  </a:t>
            </a:r>
            <a:r>
              <a:rPr sz="1700" b="1">
                <a:solidFill>
                  <a:srgbClr val="262B33"/>
                </a:solidFill>
                <a:latin typeface="Calibri"/>
              </a:rPr>
              <a:t>QuantumCircuit(n)</a:t>
            </a:r>
            <a:r>
              <a:rPr sz="1700" b="0">
                <a:solidFill>
                  <a:srgbClr val="262B33"/>
                </a:solidFill>
                <a:latin typeface="Calibri"/>
              </a:rPr>
              <a:t>  →  n wires</a:t>
            </a:r>
          </a:p>
          <a:p>
            <a:pPr marL="274320" indent="-274320">
              <a:spcBef>
                <a:spcPts val="2000"/>
              </a:spcBef>
            </a:pPr>
            <a:r>
              <a:rPr sz="1600">
                <a:solidFill>
                  <a:srgbClr val="3B5B92"/>
                </a:solidFill>
                <a:latin typeface="Calibri"/>
              </a:rPr>
              <a:t>▸  </a:t>
            </a:r>
            <a:r>
              <a:rPr sz="1700" b="1">
                <a:solidFill>
                  <a:srgbClr val="262B33"/>
                </a:solidFill>
                <a:latin typeface="Calibri"/>
              </a:rPr>
              <a:t>each qc.&lt;gate&gt;(…)</a:t>
            </a:r>
            <a:r>
              <a:rPr sz="1700" b="0">
                <a:solidFill>
                  <a:srgbClr val="262B33"/>
                </a:solidFill>
                <a:latin typeface="Calibri"/>
              </a:rPr>
              <a:t>  →  appends exactly one operation</a:t>
            </a:r>
          </a:p>
          <a:p>
            <a:pPr marL="274320" indent="-274320">
              <a:spcBef>
                <a:spcPts val="2000"/>
              </a:spcBef>
            </a:pPr>
            <a:r>
              <a:rPr sz="1600">
                <a:solidFill>
                  <a:srgbClr val="3B5B92"/>
                </a:solidFill>
                <a:latin typeface="Calibri"/>
              </a:rPr>
              <a:t>▸  </a:t>
            </a:r>
            <a:r>
              <a:rPr sz="1700" b="1">
                <a:solidFill>
                  <a:srgbClr val="262B33"/>
                </a:solidFill>
                <a:latin typeface="Calibri"/>
              </a:rPr>
              <a:t>circuit_to_dag</a:t>
            </a:r>
            <a:r>
              <a:rPr sz="1700" b="0">
                <a:solidFill>
                  <a:srgbClr val="262B33"/>
                </a:solidFill>
                <a:latin typeface="Calibri"/>
              </a:rPr>
              <a:t>  →  DAGCircuit, the IR Qiskit’s own compiler uses for optimisation and qubit routing</a:t>
            </a:r>
          </a:p>
          <a:p>
            <a:pPr marL="274320" indent="-274320">
              <a:spcBef>
                <a:spcPts val="2000"/>
              </a:spcBef>
            </a:pPr>
            <a:r>
              <a:rPr sz="1600">
                <a:solidFill>
                  <a:srgbClr val="3B5B92"/>
                </a:solidFill>
                <a:latin typeface="Calibri"/>
              </a:rPr>
              <a:t>▸  </a:t>
            </a:r>
            <a:r>
              <a:rPr sz="1700" b="0">
                <a:solidFill>
                  <a:srgbClr val="262B33"/>
                </a:solidFill>
                <a:latin typeface="Calibri"/>
              </a:rPr>
              <a:t>So: exact labels, zero hand-annotation, unlimited quantity.</a:t>
            </a:r>
          </a:p>
          <a:p>
            <a:pPr marL="274320" indent="-274320">
              <a:spcBef>
                <a:spcPts val="2000"/>
              </a:spcBef>
            </a:pPr>
            <a:r>
              <a:rPr sz="1600">
                <a:solidFill>
                  <a:srgbClr val="3B5B92"/>
                </a:solidFill>
                <a:latin typeface="Calibri"/>
              </a:rPr>
              <a:t>▸  </a:t>
            </a:r>
            <a:r>
              <a:rPr sz="1700" b="0">
                <a:solidFill>
                  <a:srgbClr val="262B33"/>
                </a:solidFill>
                <a:latin typeface="Calibri"/>
              </a:rPr>
              <a:t>The model is given the source text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THE TASK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The task, stated precisely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4572000" cy="1874519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from qiskit import QuantumCircuit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qc = QuantumCircuit(2)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qc.h(0)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qc.x(1)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qc.cx(0, 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62B33"/>
                </a:solidFill>
                <a:latin typeface="Consolas"/>
              </a:rPr>
              <a:t>qc.rz(0.785,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5B92"/>
                </a:solidFill>
                <a:latin typeface="Calibri"/>
              </a:rPr>
              <a:t>INPUT — what the model is given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77840" y="2971800"/>
            <a:ext cx="640080" cy="0"/>
          </a:xfrm>
          <a:prstGeom prst="line">
            <a:avLst/>
          </a:prstGeom>
          <a:ln w="25400">
            <a:solidFill>
              <a:srgbClr val="3B5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0" y="2057400"/>
            <a:ext cx="4663440" cy="278892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QUBITS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CLBITS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NODES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0 h q0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1 x q1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2 cx q0 q1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3 rz(0.785) q1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EDGES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0 -&gt; 2 : q0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1 -&gt; 2 : q1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onsolas"/>
              </a:rPr>
              <a:t>2 -&gt; 3 : 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5B92"/>
                </a:solidFill>
                <a:latin typeface="Calibri"/>
              </a:rPr>
              <a:t>OUTPUT — what it must produce, exactly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257800"/>
            <a:ext cx="3593592" cy="566928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764"/>
                </a:solidFill>
                <a:latin typeface="Calibri"/>
              </a:rPr>
              <a:t>node:   &lt;id&gt; &lt;gate&gt;[(&lt;params&gt;)] &lt;wires…&gt;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5257800"/>
            <a:ext cx="3593592" cy="566928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764"/>
                </a:solidFill>
                <a:latin typeface="Calibri"/>
              </a:rPr>
              <a:t>edge:   &lt;src&gt; -&gt; &lt;dst&gt; : &lt;wires…&gt;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38744" y="5257800"/>
            <a:ext cx="3593592" cy="566928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764"/>
                </a:solidFill>
                <a:latin typeface="Calibri"/>
              </a:rPr>
              <a:t>ids are the model’s choice — we compare up to isomorphism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THE TASK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Why this is hard for a language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Bef>
                <a:spcPts val="0"/>
              </a:spcBef>
            </a:pPr>
            <a:r>
              <a:rPr sz="1700">
                <a:solidFill>
                  <a:srgbClr val="3B5B92"/>
                </a:solidFill>
                <a:latin typeface="Calibri"/>
              </a:rPr>
              <a:t>▸  </a:t>
            </a:r>
            <a:r>
              <a:rPr sz="1800" b="0">
                <a:solidFill>
                  <a:srgbClr val="262B33"/>
                </a:solidFill>
                <a:latin typeface="Calibri"/>
              </a:rPr>
              <a:t>Unroll loops, expand calls, discard dead branches, broadcast qc.h(range(n)).</a:t>
            </a:r>
          </a:p>
          <a:p>
            <a:pPr marL="274320" indent="-274320">
              <a:spcBef>
                <a:spcPts val="1700"/>
              </a:spcBef>
            </a:pPr>
            <a:r>
              <a:rPr sz="1700">
                <a:solidFill>
                  <a:srgbClr val="3B5B92"/>
                </a:solidFill>
                <a:latin typeface="Calibri"/>
              </a:rPr>
              <a:t>▸  </a:t>
            </a:r>
            <a:r>
              <a:rPr sz="1800" b="0">
                <a:solidFill>
                  <a:srgbClr val="262B33"/>
                </a:solidFill>
                <a:latin typeface="Calibri"/>
              </a:rPr>
              <a:t>Track “last operation on each wire” — with no scratch memory except the tokens already written.</a:t>
            </a:r>
          </a:p>
          <a:p>
            <a:pPr marL="274320" indent="-274320">
              <a:spcBef>
                <a:spcPts val="1700"/>
              </a:spcBef>
            </a:pPr>
            <a:r>
              <a:rPr sz="1700">
                <a:solidFill>
                  <a:srgbClr val="3B5B92"/>
                </a:solidFill>
                <a:latin typeface="Calibri"/>
              </a:rPr>
              <a:t>▸  </a:t>
            </a:r>
            <a:r>
              <a:rPr sz="1800" b="0">
                <a:solidFill>
                  <a:srgbClr val="262B33"/>
                </a:solidFill>
                <a:latin typeface="Calibri"/>
              </a:rPr>
              <a:t>One missed gate breaks a chain, and the output stops being a valid DAG.</a:t>
            </a:r>
          </a:p>
          <a:p>
            <a:pPr marL="274320" indent="-274320">
              <a:spcBef>
                <a:spcPts val="1700"/>
              </a:spcBef>
            </a:pPr>
            <a:r>
              <a:rPr sz="1700">
                <a:solidFill>
                  <a:srgbClr val="3B5B92"/>
                </a:solidFill>
                <a:latin typeface="Calibri"/>
              </a:rPr>
              <a:t>▸  </a:t>
            </a:r>
            <a:r>
              <a:rPr sz="1800" b="0">
                <a:solidFill>
                  <a:srgbClr val="262B33"/>
                </a:solidFill>
                <a:latin typeface="Calibri"/>
              </a:rPr>
              <a:t>Our output is almost entirely numbers, and numbers tokenise badly: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3977639"/>
            <a:ext cx="448056" cy="347472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B33"/>
                </a:solidFill>
                <a:latin typeface="Consolas"/>
              </a:rPr>
              <a:t>rz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36192" y="3977639"/>
            <a:ext cx="342900" cy="347472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B33"/>
                </a:solidFill>
                <a:latin typeface="Consolas"/>
              </a:rPr>
              <a:t>(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1388" y="3977639"/>
            <a:ext cx="342900" cy="347472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B33"/>
                </a:solidFill>
                <a:latin typeface="Consolas"/>
              </a:rP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6584" y="3977639"/>
            <a:ext cx="342900" cy="347472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B33"/>
                </a:solidFill>
                <a:latin typeface="Consola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1779" y="3977639"/>
            <a:ext cx="553212" cy="347472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B33"/>
                </a:solidFill>
                <a:latin typeface="Consolas"/>
              </a:rPr>
              <a:t>785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3977639"/>
            <a:ext cx="342900" cy="347472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B33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72483" y="3977639"/>
            <a:ext cx="448056" cy="347472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B33"/>
                </a:solidFill>
                <a:latin typeface="Consolas"/>
              </a:rPr>
              <a:t>␣q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2836" y="3977639"/>
            <a:ext cx="448056" cy="347472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62B33"/>
                </a:solidFill>
                <a:latin typeface="Consolas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118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3760E"/>
                </a:solidFill>
                <a:latin typeface="Consolas"/>
              </a:rPr>
              <a:t>rz(0.785) q12   as the model actually reads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92040"/>
            <a:ext cx="10817352" cy="731520"/>
          </a:xfrm>
          <a:prstGeom prst="roundRect">
            <a:avLst>
              <a:gd name="adj" fmla="val 15000"/>
            </a:avLst>
          </a:prstGeom>
          <a:solidFill>
            <a:srgbClr val="EEF3FB"/>
          </a:solidFill>
          <a:ln w="17780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3764"/>
                </a:solidFill>
                <a:latin typeface="Calibri"/>
              </a:rPr>
              <a:t>CRUXEval (2024): models that write code well are substantially worse at predicting what that code does.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BACKGROUND MATERIAL READ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Three ways to use a model — our three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352044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520440" cy="658368"/>
          </a:xfrm>
          <a:prstGeom prst="roundRect">
            <a:avLst>
              <a:gd name="adj" fmla="val 18000"/>
            </a:avLst>
          </a:prstGeom>
          <a:solidFill>
            <a:srgbClr val="3B5B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Phase 1  · 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39"/>
            <a:ext cx="30632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5B92"/>
                </a:solidFill>
                <a:latin typeface="Calibri"/>
              </a:rPr>
              <a:t>DATA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alibri"/>
              </a:rPr>
              <a:t>0–5 examples in the prompt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3B5B92"/>
                </a:solidFill>
                <a:latin typeface="Calibri"/>
              </a:rPr>
              <a:t>COMPUTE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alibri"/>
              </a:rPr>
              <a:t>inference only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3B5B92"/>
                </a:solidFill>
                <a:latin typeface="Calibri"/>
              </a:rPr>
              <a:t>PYTHON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alibri"/>
              </a:rPr>
              <a:t>known, from pretraining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" y="4690871"/>
            <a:ext cx="3264408" cy="621792"/>
          </a:xfrm>
          <a:prstGeom prst="roundRect">
            <a:avLst>
              <a:gd name="adj" fmla="val 18000"/>
            </a:avLst>
          </a:prstGeom>
          <a:solidFill>
            <a:srgbClr val="FDF3E3"/>
          </a:solidFill>
          <a:ln w="1270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3760E"/>
                </a:solidFill>
                <a:latin typeface="Calibri"/>
              </a:rPr>
              <a:t>LIKELY FAILURE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format errors; loses track of wires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1416" y="1737360"/>
            <a:ext cx="352044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471416" y="1737360"/>
            <a:ext cx="3520440" cy="658368"/>
          </a:xfrm>
          <a:prstGeom prst="roundRect">
            <a:avLst>
              <a:gd name="adj" fmla="val 18000"/>
            </a:avLst>
          </a:prstGeom>
          <a:solidFill>
            <a:srgbClr val="3B5B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Phase 2  ·  LoRA 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2606039"/>
            <a:ext cx="30632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5B92"/>
                </a:solidFill>
                <a:latin typeface="Calibri"/>
              </a:rPr>
              <a:t>DATA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alibri"/>
              </a:rPr>
              <a:t>~1k–10k (code, DAG) pairs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3B5B92"/>
                </a:solidFill>
                <a:latin typeface="Calibri"/>
              </a:rPr>
              <a:t>COMPUTE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alibri"/>
              </a:rPr>
              <a:t>one free GPU, hours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3B5B92"/>
                </a:solidFill>
                <a:latin typeface="Calibri"/>
              </a:rPr>
              <a:t>PYTHON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alibri"/>
              </a:rPr>
              <a:t>known, from pretraining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9431" y="4690871"/>
            <a:ext cx="3264408" cy="621792"/>
          </a:xfrm>
          <a:prstGeom prst="roundRect">
            <a:avLst>
              <a:gd name="adj" fmla="val 18000"/>
            </a:avLst>
          </a:prstGeom>
          <a:solidFill>
            <a:srgbClr val="FDF3E3"/>
          </a:solidFill>
          <a:ln w="1270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3760E"/>
                </a:solidFill>
                <a:latin typeface="Calibri"/>
              </a:rPr>
              <a:t>LIKELY FAILURE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overfits our generator’s style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1737360"/>
            <a:ext cx="352044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257031" y="1737360"/>
            <a:ext cx="3520440" cy="658368"/>
          </a:xfrm>
          <a:prstGeom prst="roundRect">
            <a:avLst>
              <a:gd name="adj" fmla="val 18000"/>
            </a:avLst>
          </a:prstGeom>
          <a:solidFill>
            <a:srgbClr val="3B5B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Phase 3  ·  From scratch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606039"/>
            <a:ext cx="30632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5B92"/>
                </a:solidFill>
                <a:latin typeface="Calibri"/>
              </a:rPr>
              <a:t>DATA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alibri"/>
              </a:rPr>
              <a:t>10k–1M — we generate them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3B5B92"/>
                </a:solidFill>
                <a:latin typeface="Calibri"/>
              </a:rPr>
              <a:t>COMPUTE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alibri"/>
              </a:rPr>
              <a:t>one GPU, hours to days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100" b="1" i="0">
                <a:solidFill>
                  <a:srgbClr val="3B5B92"/>
                </a:solidFill>
                <a:latin typeface="Calibri"/>
              </a:rPr>
              <a:t>PYTHON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350" b="0" i="0">
                <a:solidFill>
                  <a:srgbClr val="262B33"/>
                </a:solidFill>
                <a:latin typeface="Calibri"/>
              </a:rPr>
              <a:t>none — learnt from our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8" y="4690871"/>
            <a:ext cx="3264408" cy="621792"/>
          </a:xfrm>
          <a:prstGeom prst="roundRect">
            <a:avLst>
              <a:gd name="adj" fmla="val 18000"/>
            </a:avLst>
          </a:prstGeom>
          <a:solidFill>
            <a:srgbClr val="FDF3E3"/>
          </a:solidFill>
          <a:ln w="1270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3760E"/>
                </a:solidFill>
                <a:latin typeface="Calibri"/>
              </a:rPr>
              <a:t>LIKELY FAILURE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poor generalisation to real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BACKGROUND MATERIAL READ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Background material 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5B92"/>
                </a:solidFill>
                <a:latin typeface="Calibri"/>
              </a:rPr>
              <a:t>FOUNDATIONS — how language models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30352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Bef>
                <a:spcPts val="0"/>
              </a:spcBef>
            </a:pPr>
            <a:r>
              <a:rPr sz="1400">
                <a:solidFill>
                  <a:srgbClr val="3B5B92"/>
                </a:solidFill>
                <a:latin typeface="Calibri"/>
              </a:rPr>
              <a:t>▸  </a:t>
            </a:r>
            <a:r>
              <a:rPr sz="1500" b="1">
                <a:solidFill>
                  <a:srgbClr val="262B33"/>
                </a:solidFill>
                <a:latin typeface="Calibri"/>
              </a:rPr>
              <a:t>3Blue1Brown, Neural Networks</a:t>
            </a:r>
            <a:r>
              <a:rPr sz="1500" b="0">
                <a:solidFill>
                  <a:srgbClr val="262B33"/>
                </a:solidFill>
                <a:latin typeface="Calibri"/>
              </a:rPr>
              <a:t>  — what attention computes, visually</a:t>
            </a:r>
          </a:p>
          <a:p>
            <a:pPr marL="274320" indent="-274320">
              <a:spcBef>
                <a:spcPts val="1100"/>
              </a:spcBef>
            </a:pPr>
            <a:r>
              <a:rPr sz="1400">
                <a:solidFill>
                  <a:srgbClr val="3B5B92"/>
                </a:solidFill>
                <a:latin typeface="Calibri"/>
              </a:rPr>
              <a:t>▸  </a:t>
            </a:r>
            <a:r>
              <a:rPr sz="1500" b="1">
                <a:solidFill>
                  <a:srgbClr val="262B33"/>
                </a:solidFill>
                <a:latin typeface="Calibri"/>
              </a:rPr>
              <a:t>Karpathy, Intro to LLMs</a:t>
            </a:r>
            <a:r>
              <a:rPr sz="1500" b="0">
                <a:solidFill>
                  <a:srgbClr val="262B33"/>
                </a:solidFill>
                <a:latin typeface="Calibri"/>
              </a:rPr>
              <a:t>  — pretraining → SFT → preference tuning</a:t>
            </a:r>
          </a:p>
          <a:p>
            <a:pPr marL="274320" indent="-274320">
              <a:spcBef>
                <a:spcPts val="1100"/>
              </a:spcBef>
            </a:pPr>
            <a:r>
              <a:rPr sz="1400">
                <a:solidFill>
                  <a:srgbClr val="3B5B92"/>
                </a:solidFill>
                <a:latin typeface="Calibri"/>
              </a:rPr>
              <a:t>▸  </a:t>
            </a:r>
            <a:r>
              <a:rPr sz="1500" b="1">
                <a:solidFill>
                  <a:srgbClr val="262B33"/>
                </a:solidFill>
                <a:latin typeface="Calibri"/>
              </a:rPr>
              <a:t>Alammar, The Illustrated Transformer</a:t>
            </a:r>
            <a:r>
              <a:rPr sz="1500" b="0">
                <a:solidFill>
                  <a:srgbClr val="262B33"/>
                </a:solidFill>
                <a:latin typeface="Calibri"/>
              </a:rPr>
              <a:t>  — the architecture, block by block</a:t>
            </a:r>
          </a:p>
          <a:p>
            <a:pPr marL="566928" indent="-274320">
              <a:spcBef>
                <a:spcPts val="1100"/>
              </a:spcBef>
            </a:pPr>
            <a:r>
              <a:rPr sz="1400">
                <a:solidFill>
                  <a:srgbClr val="C8D3E6"/>
                </a:solidFill>
                <a:latin typeface="Calibri"/>
              </a:rPr>
              <a:t>–  </a:t>
            </a:r>
            <a:r>
              <a:rPr sz="1300" b="0">
                <a:solidFill>
                  <a:srgbClr val="5A626E"/>
                </a:solidFill>
                <a:latin typeface="Calibri"/>
              </a:rPr>
              <a:t>Taken from these: generation is next-token prediction repeated, so an early mistake poisons the rest; attention is the mechanism that finds the last node on a wire; we decode at temperature 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5B92"/>
                </a:solidFill>
                <a:latin typeface="Calibri"/>
              </a:rPr>
              <a:t>DIRECTLY RELATED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1206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Bef>
                <a:spcPts val="0"/>
              </a:spcBef>
            </a:pPr>
            <a:r>
              <a:rPr sz="1400">
                <a:solidFill>
                  <a:srgbClr val="3B5B92"/>
                </a:solidFill>
                <a:latin typeface="Calibri"/>
              </a:rPr>
              <a:t>▸  </a:t>
            </a:r>
            <a:r>
              <a:rPr sz="1500" b="1">
                <a:solidFill>
                  <a:srgbClr val="262B33"/>
                </a:solidFill>
                <a:latin typeface="Calibri"/>
              </a:rPr>
              <a:t>Talk like a Graph (2023)</a:t>
            </a:r>
            <a:r>
              <a:rPr sz="1500" b="0">
                <a:solidFill>
                  <a:srgbClr val="262B33"/>
                </a:solidFill>
                <a:latin typeface="Calibri"/>
              </a:rPr>
              <a:t>  — how a graph is written as text changes LLM accuracy: our output format is a variable to test</a:t>
            </a:r>
          </a:p>
          <a:p>
            <a:pPr marL="274320" indent="-274320">
              <a:spcBef>
                <a:spcPts val="1100"/>
              </a:spcBef>
            </a:pPr>
            <a:r>
              <a:rPr sz="1400">
                <a:solidFill>
                  <a:srgbClr val="3B5B92"/>
                </a:solidFill>
                <a:latin typeface="Calibri"/>
              </a:rPr>
              <a:t>▸  </a:t>
            </a:r>
            <a:r>
              <a:rPr sz="1500" b="1">
                <a:solidFill>
                  <a:srgbClr val="262B33"/>
                </a:solidFill>
                <a:latin typeface="Calibri"/>
              </a:rPr>
              <a:t>CRUXEval (2024)</a:t>
            </a:r>
            <a:r>
              <a:rPr sz="1500" b="0">
                <a:solidFill>
                  <a:srgbClr val="262B33"/>
                </a:solidFill>
                <a:latin typeface="Calibri"/>
              </a:rPr>
              <a:t>  — predicting what code does, without running it: the input half of our task</a:t>
            </a:r>
          </a:p>
          <a:p>
            <a:pPr marL="274320" indent="-274320">
              <a:spcBef>
                <a:spcPts val="1100"/>
              </a:spcBef>
            </a:pPr>
            <a:r>
              <a:rPr sz="1400">
                <a:solidFill>
                  <a:srgbClr val="3B5B92"/>
                </a:solidFill>
                <a:latin typeface="Calibri"/>
              </a:rPr>
              <a:t>▸  </a:t>
            </a:r>
            <a:r>
              <a:rPr sz="1500" b="1">
                <a:solidFill>
                  <a:srgbClr val="262B33"/>
                </a:solidFill>
                <a:latin typeface="Calibri"/>
              </a:rPr>
              <a:t>Qiskit HumanEval (2024)</a:t>
            </a:r>
            <a:r>
              <a:rPr sz="1500" b="0">
                <a:solidFill>
                  <a:srgbClr val="262B33"/>
                </a:solidFill>
                <a:latin typeface="Calibri"/>
              </a:rPr>
              <a:t>  — 151 human-written Qiskit tasks: our source of real code for a held-out test set</a:t>
            </a:r>
          </a:p>
          <a:p>
            <a:pPr marL="274320" indent="-274320">
              <a:spcBef>
                <a:spcPts val="1100"/>
              </a:spcBef>
            </a:pPr>
            <a:r>
              <a:rPr sz="1400">
                <a:solidFill>
                  <a:srgbClr val="3B5B92"/>
                </a:solidFill>
                <a:latin typeface="Calibri"/>
              </a:rPr>
              <a:t>▸  </a:t>
            </a:r>
            <a:r>
              <a:rPr sz="1500" b="1">
                <a:solidFill>
                  <a:srgbClr val="262B33"/>
                </a:solidFill>
                <a:latin typeface="Calibri"/>
              </a:rPr>
              <a:t>Qiskit DAGCircuit docs</a:t>
            </a:r>
            <a:r>
              <a:rPr sz="1500" b="0">
                <a:solidFill>
                  <a:srgbClr val="262B33"/>
                </a:solidFill>
                <a:latin typeface="Calibri"/>
              </a:rPr>
              <a:t>  — defines our target structure exactly</a:t>
            </a:r>
          </a:p>
          <a:p>
            <a:pPr marL="566928" indent="-274320">
              <a:spcBef>
                <a:spcPts val="1100"/>
              </a:spcBef>
            </a:pPr>
            <a:r>
              <a:rPr sz="1400">
                <a:solidFill>
                  <a:srgbClr val="C8D3E6"/>
                </a:solidFill>
                <a:latin typeface="Calibri"/>
              </a:rPr>
              <a:t>–  </a:t>
            </a:r>
            <a:r>
              <a:rPr sz="1300" b="0">
                <a:solidFill>
                  <a:srgbClr val="5A626E"/>
                </a:solidFill>
                <a:latin typeface="Calibri"/>
              </a:rPr>
              <a:t>No public dataset of (code → circuit DAG) pairs exists. Building one is part of the contribution.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WORK DONE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What has been built so far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536192"/>
            <a:ext cx="2514600" cy="86868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7780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764"/>
                </a:solidFill>
                <a:latin typeface="Consolas"/>
              </a:rPr>
              <a:t>generate.py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6E"/>
                </a:solidFill>
                <a:latin typeface="Calibri"/>
              </a:rPr>
              <a:t>writes a random Qiskit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536192"/>
            <a:ext cx="2514600" cy="86868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7780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764"/>
                </a:solidFill>
                <a:latin typeface="Consolas"/>
              </a:rPr>
              <a:t>extract.py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6E"/>
                </a:solidFill>
                <a:latin typeface="Calibri"/>
              </a:rPr>
              <a:t>runs it → Qiskit gives the true DAG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536192"/>
            <a:ext cx="2514600" cy="86868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7780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764"/>
                </a:solidFill>
                <a:latin typeface="Consolas"/>
              </a:rPr>
              <a:t>schema.py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6E"/>
                </a:solidFill>
                <a:latin typeface="Calibri"/>
              </a:rPr>
              <a:t>writes that DAG as text = the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410711"/>
            <a:ext cx="2514600" cy="86868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7780">
            <a:solidFill>
              <a:srgbClr val="E376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764"/>
                </a:solidFill>
                <a:latin typeface="Consolas"/>
              </a:rPr>
              <a:t>pipeline/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6E"/>
                </a:solidFill>
                <a:latin typeface="Calibri"/>
              </a:rPr>
              <a:t>runner: prompt in, reply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410711"/>
            <a:ext cx="2514600" cy="86868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17780">
            <a:solidFill>
              <a:srgbClr val="3B5B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764"/>
                </a:solidFill>
                <a:latin typeface="Consolas"/>
              </a:rPr>
              <a:t>validate.py / metrics.py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26E"/>
                </a:solidFill>
                <a:latin typeface="Calibri"/>
              </a:rPr>
              <a:t>well-formed DAG?  how close to the truth?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7639" y="1970531"/>
            <a:ext cx="685801" cy="0"/>
          </a:xfrm>
          <a:prstGeom prst="line">
            <a:avLst/>
          </a:prstGeom>
          <a:ln w="22225">
            <a:solidFill>
              <a:srgbClr val="3B5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78040" y="1970531"/>
            <a:ext cx="685800" cy="0"/>
          </a:xfrm>
          <a:prstGeom prst="line">
            <a:avLst/>
          </a:prstGeom>
          <a:ln w="22225">
            <a:solidFill>
              <a:srgbClr val="3B5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78040" y="3845051"/>
            <a:ext cx="685800" cy="0"/>
          </a:xfrm>
          <a:prstGeom prst="line">
            <a:avLst/>
          </a:prstGeom>
          <a:ln w="22225">
            <a:solidFill>
              <a:srgbClr val="E376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21140" y="2404872"/>
            <a:ext cx="0" cy="1005839"/>
          </a:xfrm>
          <a:prstGeom prst="line">
            <a:avLst/>
          </a:prstGeom>
          <a:ln w="22225">
            <a:solidFill>
              <a:srgbClr val="3B5B9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20340" y="2404872"/>
            <a:ext cx="2400300" cy="1005839"/>
          </a:xfrm>
          <a:prstGeom prst="line">
            <a:avLst/>
          </a:prstGeom>
          <a:ln w="22225">
            <a:solidFill>
              <a:srgbClr val="E376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54480" y="27066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3760E"/>
                </a:solidFill>
                <a:latin typeface="Calibri"/>
              </a:rPr>
              <a:t>the code, and nothing 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7066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26E"/>
                </a:solidFill>
                <a:latin typeface="Calibri"/>
              </a:rPr>
              <a:t>the answer to beat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800600"/>
            <a:ext cx="3429000" cy="566928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seven modules under graphart/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5152" y="4800600"/>
            <a:ext cx="3429000" cy="566928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runner + scorer written and dry-run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0184" y="4800600"/>
            <a:ext cx="3429000" cy="566928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not yet done: call a real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62356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3760E"/>
                </a:solidFill>
                <a:latin typeface="Calibri"/>
              </a:rPr>
              <a:t>The model is handed the code and nothing else — never the circuit, never the answer.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THE DATASET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The dataset: four tiers of difficulty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669280"/>
                <a:gridCol w="1691640"/>
                <a:gridCol w="2130552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the code looks like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Unique samples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Nodes  min / avg / max</a:t>
                      </a:r>
                    </a:p>
                  </a:txBody>
                  <a:tcPr marL="73152" marR="73152" marT="18288" marB="18288"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1  flat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one gate per line — reading it is copying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3 / 9.2 / 17</a:t>
                      </a:r>
                    </a:p>
                  </a:txBody>
                  <a:tcPr marL="73152" marR="73152" marT="18288" marB="18288"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2  loops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for loops over qubits, repeated layers, % n rings, reversed ranges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3 / 13.5 / 42</a:t>
                      </a:r>
                    </a:p>
                  </a:txBody>
                  <a:tcPr marL="73152" marR="73152" marT="18288" marB="18288"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3  control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helper functions, if/else on the loop index, dead branches, nested loops, while, lists of angles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3 / 8.6 / 23</a:t>
                      </a:r>
                    </a:p>
                  </a:txBody>
                  <a:tcPr marL="73152" marR="73152" marT="18288" marB="18288"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4  algorithms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GHZ, QFT, Bernstein–Vazirani, Grover (2q), Deutsch–Jozsa, hardware-efficient ansatz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262B33"/>
                          </a:solidFill>
                          <a:latin typeface="Calibri"/>
                        </a:rPr>
                        <a:t>6 / 17.4 / 26</a:t>
                      </a:r>
                    </a:p>
                  </a:txBody>
                  <a:tcPr marL="73152" marR="73152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764"/>
                </a:solidFill>
                <a:latin typeface="Calibri"/>
              </a:rPr>
              <a:t>The tiers vary how well the code hides the circuit — not how big the circuit 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434840"/>
            <a:ext cx="5394960" cy="621792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764"/>
                </a:solidFill>
                <a:latin typeface="Calibri"/>
              </a:rPr>
              <a:t>the next four slides:  one worked example per 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4434840"/>
            <a:ext cx="5394960" cy="621792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764"/>
                </a:solidFill>
                <a:latin typeface="Calibri"/>
              </a:rPr>
              <a:t>tier 4 is 93 samples — test-only until more templates are added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THE DATASET · TIER 1 EXAMPLE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Tier 1 — flat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71" y="1600200"/>
            <a:ext cx="10854409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9204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764"/>
                </a:solidFill>
                <a:latin typeface="Calibri"/>
              </a:rPr>
              <a:t>Every operation is written out. Reading the code is transcription; only the edges have to be worked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THE DATASET · TIER 2 EXAMPLE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Tier 2 — loops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123" y="1600200"/>
            <a:ext cx="9174705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9204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764"/>
                </a:solidFill>
                <a:latin typeface="Calibri"/>
              </a:rPr>
              <a:t>Two loops over five qubits. Ten operations, five independent chains — and not one of them appears in the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THE DATASET · TIER 3 EXAMPLE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Tier 3 — control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e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71" y="1600200"/>
            <a:ext cx="10854409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9204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764"/>
                </a:solidFill>
                <a:latin typeface="Calibri"/>
              </a:rPr>
              <a:t>if/else on the loop index picks RX or RZ; a nested loop produces six cx gates. Ten operations, none written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THE DATASET · TIER 4 EXAMPLE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Tier 4 — textbook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er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71" y="1600200"/>
            <a:ext cx="10854409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9204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764"/>
                </a:solidFill>
                <a:latin typeface="Calibri"/>
              </a:rPr>
              <a:t>A GHZ state with measurement. Classical bits become wires too, so measure nodes carry both a qubit and a clbit.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THE DATASET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Data curation: how the splits are kept honest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Bef>
                <a:spcPts val="0"/>
              </a:spcBef>
            </a:pPr>
            <a:r>
              <a:rPr sz="1500">
                <a:solidFill>
                  <a:srgbClr val="3B5B92"/>
                </a:solidFill>
                <a:latin typeface="Calibri"/>
              </a:rPr>
              <a:t>▸  </a:t>
            </a:r>
            <a:r>
              <a:rPr sz="1600" b="1">
                <a:solidFill>
                  <a:srgbClr val="262B33"/>
                </a:solidFill>
                <a:latin typeface="Calibri"/>
              </a:rPr>
              <a:t>One command, fixed seed.</a:t>
            </a:r>
            <a:r>
              <a:rPr sz="1600" b="0">
                <a:solidFill>
                  <a:srgbClr val="262B33"/>
                </a:solidFill>
                <a:latin typeface="Calibri"/>
              </a:rPr>
              <a:t>  Nothing is hand-labelled or hand-corrected.</a:t>
            </a:r>
          </a:p>
          <a:p>
            <a:pPr marL="274320" indent="-274320">
              <a:spcBef>
                <a:spcPts val="1300"/>
              </a:spcBef>
            </a:pPr>
            <a:r>
              <a:rPr sz="1500">
                <a:solidFill>
                  <a:srgbClr val="3B5B92"/>
                </a:solidFill>
                <a:latin typeface="Calibri"/>
              </a:rPr>
              <a:t>▸  </a:t>
            </a:r>
            <a:r>
              <a:rPr sz="1600" b="1">
                <a:solidFill>
                  <a:srgbClr val="262B33"/>
                </a:solidFill>
                <a:latin typeface="Calibri"/>
              </a:rPr>
              <a:t>Every ground-truth graph passes our own validator before it is kept.</a:t>
            </a:r>
            <a:r>
              <a:rPr sz="1600" b="0">
                <a:solidFill>
                  <a:srgbClr val="262B33"/>
                </a:solidFill>
                <a:latin typeface="Calibri"/>
              </a:rPr>
              <a:t>  A malformed extraction fails the build instead of poisoning the data.</a:t>
            </a:r>
          </a:p>
          <a:p>
            <a:pPr marL="274320" indent="-274320">
              <a:spcBef>
                <a:spcPts val="1300"/>
              </a:spcBef>
            </a:pPr>
            <a:r>
              <a:rPr sz="1500">
                <a:solidFill>
                  <a:srgbClr val="3B5B92"/>
                </a:solidFill>
                <a:latin typeface="Calibri"/>
              </a:rPr>
              <a:t>▸  </a:t>
            </a:r>
            <a:r>
              <a:rPr sz="1600" b="1">
                <a:solidFill>
                  <a:srgbClr val="262B33"/>
                </a:solidFill>
                <a:latin typeface="Calibri"/>
              </a:rPr>
              <a:t>Deduplicated by the graph itself, across the whole dataset.</a:t>
            </a:r>
            <a:r>
              <a:rPr sz="1600" b="0">
                <a:solidFill>
                  <a:srgbClr val="262B33"/>
                </a:solidFill>
                <a:latin typeface="Calibri"/>
              </a:rPr>
              <a:t>  A sample whose DAG has already been seen is thrown away — so no graph can appear in two splits, and memorising cannot score.</a:t>
            </a:r>
          </a:p>
          <a:p>
            <a:pPr marL="274320" indent="-274320">
              <a:spcBef>
                <a:spcPts val="1300"/>
              </a:spcBef>
            </a:pPr>
            <a:r>
              <a:rPr sz="1500">
                <a:solidFill>
                  <a:srgbClr val="3B5B92"/>
                </a:solidFill>
                <a:latin typeface="Calibri"/>
              </a:rPr>
              <a:t>▸  </a:t>
            </a:r>
            <a:r>
              <a:rPr sz="1600" b="1">
                <a:solidFill>
                  <a:srgbClr val="262B33"/>
                </a:solidFill>
                <a:latin typeface="Calibri"/>
              </a:rPr>
              <a:t>Filtered to 3–60 nodes,</a:t>
            </a:r>
            <a:r>
              <a:rPr sz="1600" b="0">
                <a:solidFill>
                  <a:srgbClr val="262B33"/>
                </a:solidFill>
                <a:latin typeface="Calibri"/>
              </a:rPr>
              <a:t>  which keeps every sample inside a small model’s context window.</a:t>
            </a:r>
          </a:p>
          <a:p>
            <a:pPr marL="274320" indent="-274320">
              <a:spcBef>
                <a:spcPts val="1300"/>
              </a:spcBef>
            </a:pPr>
            <a:r>
              <a:rPr sz="1500">
                <a:solidFill>
                  <a:srgbClr val="3B5B92"/>
                </a:solidFill>
                <a:latin typeface="Calibri"/>
              </a:rPr>
              <a:t>▸  </a:t>
            </a:r>
            <a:r>
              <a:rPr sz="1600" b="1">
                <a:solidFill>
                  <a:srgbClr val="262B33"/>
                </a:solidFill>
                <a:latin typeface="Calibri"/>
              </a:rPr>
              <a:t>Then split 80 / 10 / 10 within each tier:</a:t>
            </a:r>
            <a:r>
              <a:rPr sz="1600" b="0">
                <a:solidFill>
                  <a:srgbClr val="262B33"/>
                </a:solidFill>
                <a:latin typeface="Calibri"/>
              </a:rPr>
              <a:t>  1274 train · 159 val · 160 test.  The generator scales to 4,000 per tier for tiers 1–3 (≈ 9,700 training pairs) when fine-tuning needs 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THE DATASET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Real code for the generalisation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599432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How we would use it</a:t>
                      </a:r>
                    </a:p>
                  </a:txBody>
                  <a:tcPr marL="73152" marR="73152" marT="18288" marB="18288" anchor="ctr"/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Qiskit HumanEval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151 hand-written Qiskit tasks with reference solutions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run each solution that builds a circuit, extract its DAG → a real-code test set</a:t>
                      </a:r>
                    </a:p>
                  </a:txBody>
                  <a:tcPr marL="73152" marR="73152" marT="18288" marB="18288" anchor="ctr"/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MQT Bench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thousands of benchmark circuits, 2–130 qubits, generated in Python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more tier-4 algorithms, and larger circuits for the size-generalisation test</a:t>
                      </a:r>
                    </a:p>
                  </a:txBody>
                  <a:tcPr marL="73152" marR="73152" marT="18288" marB="18288" anchor="ctr"/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QASMBench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~130 OpenQASM circuits from chemistry, arithmetic and ML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load the QASM into a QuantumCircuit, then the same extractor</a:t>
                      </a:r>
                    </a:p>
                  </a:txBody>
                  <a:tcPr marL="73152" marR="73152" marT="18288" marB="18288" anchor="ctr"/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QCircuitBench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a large dataset for LLM-based quantum algorithm design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262B33"/>
                          </a:solidFill>
                          <a:latin typeface="Calibri"/>
                        </a:rPr>
                        <a:t>algorithm code written in a style quite different from our generator</a:t>
                      </a:r>
                    </a:p>
                  </a:txBody>
                  <a:tcPr marL="73152" marR="73152" marT="18288" marB="18288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3764"/>
                </a:solidFill>
                <a:latin typeface="Calibri"/>
              </a:rPr>
              <a:t>All four end up as a QuantumCircuit, so the same circuit_to_dag gives the ground truth and the same metrics score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5120640"/>
            <a:ext cx="4709160" cy="658368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our generator has a house style — a fixed vocabulary of gates and code shapes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120640"/>
            <a:ext cx="4709160" cy="658368"/>
          </a:xfrm>
          <a:prstGeom prst="roundRect">
            <a:avLst>
              <a:gd name="adj" fmla="val 22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764"/>
                </a:solidFill>
                <a:latin typeface="Calibri"/>
              </a:rPr>
              <a:t>a model could learn that style instead of the rule; only real code exposes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EVALUATION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How an answer is scored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167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354312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73152" marR="73152" marT="18288" marB="18288" anchor="ctr"/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B33"/>
                          </a:solidFill>
                          <a:latin typeface="Calibri"/>
                        </a:rPr>
                        <a:t>valid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B33"/>
                          </a:solidFill>
                          <a:latin typeface="Calibri"/>
                        </a:rPr>
                        <a:t>the output parses; there are no cycles; every edge’s wires belong to both of its endpoints; and each wire forms one single chain</a:t>
                      </a:r>
                    </a:p>
                  </a:txBody>
                  <a:tcPr marL="73152" marR="73152" marT="18288" marB="18288" anchor="ctr"/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B33"/>
                          </a:solidFill>
                          <a:latin typeface="Calibri"/>
                        </a:rPr>
                        <a:t>exact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B33"/>
                          </a:solidFill>
                          <a:latin typeface="Calibri"/>
                        </a:rPr>
                        <a:t>the same graph as the ground truth, by labelled graph isomorphism — this is the headline number</a:t>
                      </a:r>
                    </a:p>
                  </a:txBody>
                  <a:tcPr marL="73152" marR="73152" marT="18288" marB="18288" anchor="ctr"/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B33"/>
                          </a:solidFill>
                          <a:latin typeface="Calibri"/>
                        </a:rPr>
                        <a:t>node F1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B33"/>
                          </a:solidFill>
                          <a:latin typeface="Calibri"/>
                        </a:rPr>
                        <a:t>overlap of the (gate, qubits, clbits, params) multisets — partial credit for getting most operations right</a:t>
                      </a:r>
                    </a:p>
                  </a:txBody>
                  <a:tcPr marL="73152" marR="73152" marT="18288" marB="18288" anchor="ctr"/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B33"/>
                          </a:solidFill>
                          <a:latin typeface="Calibri"/>
                        </a:rPr>
                        <a:t>edge F1</a:t>
                      </a:r>
                    </a:p>
                  </a:txBody>
                  <a:tcPr marL="73152" marR="73152" marT="18288" marB="18288" anchor="ctr"/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262B33"/>
                          </a:solidFill>
                          <a:latin typeface="Calibri"/>
                        </a:rPr>
                        <a:t>overlap of the (source label, target label, wires) multisets — partial credit for the structure</a:t>
                      </a:r>
                    </a:p>
                  </a:txBody>
                  <a:tcPr marL="73152" marR="73152" marT="18288" marB="18288" anchor="ctr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343400"/>
            <a:ext cx="11091672" cy="86868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12700">
            <a:solidFill>
              <a:srgbClr val="C8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tIns="10972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onsolas"/>
              </a:rPr>
              <a:t>perfect copy      valid=True   exact=True    node_f1=1.00  edge_f1=1.00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onsolas"/>
              </a:rPr>
              <a:t>one wrong gate    valid=True   exact=False   node_f1=0.93  edge_f1=0.92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onsolas"/>
              </a:rPr>
              <a:t>one missing edge  valid=False  exact=False   node_f1=1.00  edge_f1=0.96   ['wire q2: 5 nodes should be chained by 4 edges, found 3']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110916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5B92"/>
                </a:solidFill>
                <a:latin typeface="Calibri"/>
              </a:rPr>
              <a:t>sanity check — scoring a correct graph and two damaged copies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Bef>
                <a:spcPts val="0"/>
              </a:spcBef>
            </a:pPr>
            <a:r>
              <a:rPr sz="1400">
                <a:solidFill>
                  <a:srgbClr val="3B5B92"/>
                </a:solidFill>
                <a:latin typeface="Calibri"/>
              </a:rPr>
              <a:t>▸  </a:t>
            </a:r>
            <a:r>
              <a:rPr sz="1500" b="0">
                <a:solidFill>
                  <a:srgbClr val="262B33"/>
                </a:solidFill>
                <a:latin typeface="Calibri"/>
              </a:rPr>
              <a:t>Reported per tier and per circuit size. Node ids are ignored throughout.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STATUS AND PLAN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Where we stand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Bef>
                <a:spcPts val="0"/>
              </a:spcBef>
            </a:pPr>
            <a:r>
              <a:rPr sz="1600">
                <a:solidFill>
                  <a:srgbClr val="3B5B92"/>
                </a:solidFill>
                <a:latin typeface="Calibri"/>
              </a:rPr>
              <a:t>▸  </a:t>
            </a:r>
            <a:r>
              <a:rPr sz="1700" b="1">
                <a:solidFill>
                  <a:srgbClr val="262B33"/>
                </a:solidFill>
                <a:latin typeface="Calibri"/>
              </a:rPr>
              <a:t>The harness runs end to end, and is checked.</a:t>
            </a:r>
            <a:r>
              <a:rPr sz="1700" b="0">
                <a:solidFill>
                  <a:srgbClr val="262B33"/>
                </a:solidFill>
                <a:latin typeface="Calibri"/>
              </a:rPr>
              <a:t>  The sanity check on the previous slide is the evidence.</a:t>
            </a:r>
          </a:p>
          <a:p>
            <a:pPr marL="274320" indent="-274320">
              <a:spcBef>
                <a:spcPts val="1600"/>
              </a:spcBef>
            </a:pPr>
            <a:r>
              <a:rPr sz="1600">
                <a:solidFill>
                  <a:srgbClr val="3B5B92"/>
                </a:solidFill>
                <a:latin typeface="Calibri"/>
              </a:rPr>
              <a:t>▸  </a:t>
            </a:r>
            <a:r>
              <a:rPr sz="1700" b="1">
                <a:solidFill>
                  <a:srgbClr val="262B33"/>
                </a:solidFill>
                <a:latin typeface="Calibri"/>
              </a:rPr>
              <a:t>The dataset is built and inspected.</a:t>
            </a:r>
            <a:r>
              <a:rPr sz="1700" b="0">
                <a:solidFill>
                  <a:srgbClr val="262B33"/>
                </a:solidFill>
                <a:latin typeface="Calibri"/>
              </a:rPr>
              <a:t>  1,593 samples across four tiers, with a rendered example per tier.</a:t>
            </a:r>
          </a:p>
          <a:p>
            <a:pPr marL="274320" indent="-274320">
              <a:spcBef>
                <a:spcPts val="1600"/>
              </a:spcBef>
            </a:pPr>
            <a:r>
              <a:rPr sz="1600">
                <a:solidFill>
                  <a:srgbClr val="3B5B92"/>
                </a:solidFill>
                <a:latin typeface="Calibri"/>
              </a:rPr>
              <a:t>▸  </a:t>
            </a:r>
            <a:r>
              <a:rPr sz="1700" b="1">
                <a:solidFill>
                  <a:srgbClr val="262B33"/>
                </a:solidFill>
                <a:latin typeface="Calibri"/>
              </a:rPr>
              <a:t>The Phase-1 harness is written, and dry-run end to end.</a:t>
            </a:r>
            <a:r>
              <a:rPr sz="1700" b="0">
                <a:solidFill>
                  <a:srgbClr val="262B33"/>
                </a:solidFill>
                <a:latin typeface="Calibri"/>
              </a:rPr>
              <a:t>  Four prompt variants (zero-shot, few-shot, chain-of-thought, and the gate-list ablation), a runner with a hosted and a local backend, and a scorer that reports by tier and by circuit size.</a:t>
            </a:r>
          </a:p>
          <a:p>
            <a:pPr marL="274320" indent="-274320">
              <a:spcBef>
                <a:spcPts val="1600"/>
              </a:spcBef>
            </a:pPr>
            <a:r>
              <a:rPr sz="1600">
                <a:solidFill>
                  <a:srgbClr val="3B5B92"/>
                </a:solidFill>
                <a:latin typeface="Calibri"/>
              </a:rPr>
              <a:t>▸  </a:t>
            </a:r>
            <a:r>
              <a:rPr sz="1700" b="1">
                <a:solidFill>
                  <a:srgbClr val="262B33"/>
                </a:solidFill>
                <a:latin typeface="Calibri"/>
              </a:rPr>
              <a:t>No model has been called yet.</a:t>
            </a:r>
            <a:r>
              <a:rPr sz="1700" b="0">
                <a:solidFill>
                  <a:srgbClr val="262B33"/>
                </a:solidFill>
                <a:latin typeface="Calibri"/>
              </a:rPr>
              <a:t>  We would rather report no numbers than numbers we cannot stand behind. The next command run is the zero-shot baseline over the 160-sample test split.</a:t>
            </a:r>
          </a:p>
          <a:p>
            <a:pPr marL="274320" indent="-274320">
              <a:spcBef>
                <a:spcPts val="1600"/>
              </a:spcBef>
            </a:pPr>
            <a:r>
              <a:rPr sz="1600">
                <a:solidFill>
                  <a:srgbClr val="3B5B92"/>
                </a:solidFill>
                <a:latin typeface="Calibri"/>
              </a:rPr>
              <a:t>▸  </a:t>
            </a:r>
            <a:r>
              <a:rPr sz="1700" b="1">
                <a:solidFill>
                  <a:srgbClr val="262B33"/>
                </a:solidFill>
                <a:latin typeface="Calibri"/>
              </a:rPr>
              <a:t>First measurements:</a:t>
            </a:r>
            <a:r>
              <a:rPr sz="1700" b="0">
                <a:solidFill>
                  <a:srgbClr val="262B33"/>
                </a:solidFill>
                <a:latin typeface="Calibri"/>
              </a:rPr>
              <a:t>  zero-shot and few-shot valid / exact / node F1 / edge F1 on the 160-sample test split, by tier and by circuit size, for one hosted model and one small local model.</a:t>
            </a:r>
          </a:p>
          <a:p>
            <a:pPr marL="274320" indent="-274320">
              <a:spcBef>
                <a:spcPts val="1600"/>
              </a:spcBef>
            </a:pPr>
            <a:r>
              <a:rPr sz="1600">
                <a:solidFill>
                  <a:srgbClr val="3B5B92"/>
                </a:solidFill>
                <a:latin typeface="Calibri"/>
              </a:rPr>
              <a:t>▸  </a:t>
            </a:r>
            <a:r>
              <a:rPr sz="1700" b="1">
                <a:solidFill>
                  <a:srgbClr val="262B33"/>
                </a:solidFill>
                <a:latin typeface="Calibri"/>
              </a:rPr>
              <a:t>Then the ablation that answers the central question:</a:t>
            </a:r>
            <a:r>
              <a:rPr sz="1700" b="0">
                <a:solidFill>
                  <a:srgbClr val="262B33"/>
                </a:solidFill>
                <a:latin typeface="Calibri"/>
              </a:rPr>
              <a:t>  the model outputs only the unrolled gate list, and graphart/connect.py builds the edges. That edge-builder already reproduces the ground truth on all 160 test samples, so whatever it then scores is purely the model’s reading of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STATUS AND PLAN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Roadmap: the project as subtasks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Bef>
                <a:spcPts val="0"/>
              </a:spcBef>
            </a:pPr>
            <a:r>
              <a:rPr sz="1500">
                <a:solidFill>
                  <a:srgbClr val="3B5B92"/>
                </a:solidFill>
                <a:latin typeface="Calibri"/>
              </a:rPr>
              <a:t>▸  </a:t>
            </a:r>
            <a:r>
              <a:rPr sz="1600" b="1">
                <a:solidFill>
                  <a:srgbClr val="262B33"/>
                </a:solidFill>
                <a:latin typeface="Calibri"/>
              </a:rPr>
              <a:t>Phase 1 — prompting baselines  (the next two weeks).</a:t>
            </a:r>
            <a:r>
              <a:rPr sz="1600" b="0">
                <a:solidFill>
                  <a:srgbClr val="262B33"/>
                </a:solidFill>
                <a:latin typeface="Calibri"/>
              </a:rPr>
              <a:t>  Zero-shot, few-shot, chain-of-thought, and the “LLM unrolls, code connects” ablation, on one hosted model and one local model.</a:t>
            </a:r>
          </a:p>
          <a:p>
            <a:pPr marL="274320" indent="-274320">
              <a:spcBef>
                <a:spcPts val="1400"/>
              </a:spcBef>
            </a:pPr>
            <a:r>
              <a:rPr sz="1500">
                <a:solidFill>
                  <a:srgbClr val="3B5B92"/>
                </a:solidFill>
                <a:latin typeface="Calibri"/>
              </a:rPr>
              <a:t>▸  </a:t>
            </a:r>
            <a:r>
              <a:rPr sz="1600" b="1">
                <a:solidFill>
                  <a:srgbClr val="262B33"/>
                </a:solidFill>
                <a:latin typeface="Calibri"/>
              </a:rPr>
              <a:t>Phase 2 — LoRA fine-tuning.</a:t>
            </a:r>
            <a:r>
              <a:rPr sz="1600" b="0">
                <a:solidFill>
                  <a:srgbClr val="262B33"/>
                </a:solidFill>
                <a:latin typeface="Calibri"/>
              </a:rPr>
              <a:t>  A 0.5B–1.5B open code model on a free Colab or Kaggle GPU. Does a fine-tuned 1B model beat a prompted frontier model? How much data is enough?</a:t>
            </a:r>
          </a:p>
          <a:p>
            <a:pPr marL="274320" indent="-274320">
              <a:spcBef>
                <a:spcPts val="1400"/>
              </a:spcBef>
            </a:pPr>
            <a:r>
              <a:rPr sz="1500">
                <a:solidFill>
                  <a:srgbClr val="3B5B92"/>
                </a:solidFill>
                <a:latin typeface="Calibri"/>
              </a:rPr>
              <a:t>▸  </a:t>
            </a:r>
            <a:r>
              <a:rPr sz="1600" b="1">
                <a:solidFill>
                  <a:srgbClr val="262B33"/>
                </a:solidFill>
                <a:latin typeface="Calibri"/>
              </a:rPr>
              <a:t>Phase 3 (stretch) — a tiny transformer from scratch.</a:t>
            </a:r>
            <a:r>
              <a:rPr sz="1600" b="0">
                <a:solidFill>
                  <a:srgbClr val="262B33"/>
                </a:solidFill>
                <a:latin typeface="Calibri"/>
              </a:rPr>
              <a:t>  nanoGPT-scale, 10–50M parameters, possibly with a custom tokenizer in which q12 is one token.</a:t>
            </a:r>
          </a:p>
          <a:p>
            <a:pPr marL="274320" indent="-274320">
              <a:spcBef>
                <a:spcPts val="1400"/>
              </a:spcBef>
            </a:pPr>
            <a:r>
              <a:rPr sz="1500">
                <a:solidFill>
                  <a:srgbClr val="3B5B92"/>
                </a:solidFill>
                <a:latin typeface="Calibri"/>
              </a:rPr>
              <a:t>▸  </a:t>
            </a:r>
            <a:r>
              <a:rPr sz="1600" b="1">
                <a:solidFill>
                  <a:srgbClr val="262B33"/>
                </a:solidFill>
                <a:latin typeface="Calibri"/>
              </a:rPr>
              <a:t>Phase 4 — generalisation.</a:t>
            </a:r>
            <a:r>
              <a:rPr sz="1600" b="0">
                <a:solidFill>
                  <a:srgbClr val="262B33"/>
                </a:solidFill>
                <a:latin typeface="Calibri"/>
              </a:rPr>
              <a:t>  Train on ≤ 5 qubits, test on 6–10; hold out a construct such as while loops; test on real Qiskit HumanEval code; and revisit torch.fx graphs as a second domain.</a:t>
            </a:r>
          </a:p>
          <a:p>
            <a:pPr marL="274320" indent="-274320">
              <a:spcBef>
                <a:spcPts val="1400"/>
              </a:spcBef>
            </a:pPr>
            <a:r>
              <a:rPr sz="1500">
                <a:solidFill>
                  <a:srgbClr val="3B5B92"/>
                </a:solidFill>
                <a:latin typeface="Calibri"/>
              </a:rPr>
              <a:t>▸  </a:t>
            </a:r>
            <a:r>
              <a:rPr sz="1600" b="1">
                <a:solidFill>
                  <a:srgbClr val="262B33"/>
                </a:solidFill>
                <a:latin typeface="Calibri"/>
              </a:rPr>
              <a:t>Phase 5 — interface.</a:t>
            </a:r>
            <a:r>
              <a:rPr sz="1600" b="0">
                <a:solidFill>
                  <a:srgbClr val="262B33"/>
                </a:solidFill>
                <a:latin typeface="Calibri"/>
              </a:rPr>
              <a:t>  Paste code, see the predicted DAG beside the ground truth with the differences highlighted.</a:t>
            </a:r>
          </a:p>
          <a:p>
            <a:pPr marL="274320" indent="-274320">
              <a:spcBef>
                <a:spcPts val="1400"/>
              </a:spcBef>
            </a:pPr>
            <a:r>
              <a:rPr sz="1500">
                <a:solidFill>
                  <a:srgbClr val="3B5B92"/>
                </a:solidFill>
                <a:latin typeface="Calibri"/>
              </a:rPr>
              <a:t>▸  </a:t>
            </a:r>
            <a:r>
              <a:rPr sz="1600" b="1">
                <a:solidFill>
                  <a:srgbClr val="262B33"/>
                </a:solidFill>
                <a:latin typeface="Calibri"/>
              </a:rPr>
              <a:t>Immediate subtasks:</a:t>
            </a:r>
            <a:r>
              <a:rPr sz="1600" b="0">
                <a:solidFill>
                  <a:srgbClr val="262B33"/>
                </a:solidFill>
                <a:latin typeface="Calibri"/>
              </a:rPr>
              <a:t>  (1) run the zero-shot baseline, (2) freeze the test split, (3) the Qiskit HumanEval importer, (4) more tier-4 templates.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5B92"/>
                </a:solidFill>
                <a:latin typeface="Calibri"/>
              </a:rPr>
              <a:t>STATUS AND PLAN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3764"/>
                </a:solidFill>
                <a:latin typeface="Calibri"/>
              </a:rPr>
              <a:t>The research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415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Bef>
                <a:spcPts val="0"/>
              </a:spcBef>
            </a:pPr>
            <a:r>
              <a:rPr sz="1700">
                <a:solidFill>
                  <a:srgbClr val="3B5B92"/>
                </a:solidFill>
                <a:latin typeface="Calibri"/>
              </a:rPr>
              <a:t>▸  </a:t>
            </a:r>
            <a:r>
              <a:rPr sz="1800" b="1">
                <a:solidFill>
                  <a:srgbClr val="262B33"/>
                </a:solidFill>
                <a:latin typeface="Calibri"/>
              </a:rPr>
              <a:t>1.  How does accuracy fall as the code hides more of the structure?</a:t>
            </a:r>
            <a:r>
              <a:rPr sz="1800" b="0">
                <a:solidFill>
                  <a:srgbClr val="262B33"/>
                </a:solidFill>
                <a:latin typeface="Calibri"/>
              </a:rPr>
              <a:t>  Tier 1 → 4 at constant circuit size, and separately as the circuit grows.</a:t>
            </a:r>
          </a:p>
          <a:p>
            <a:pPr marL="274320" indent="-274320">
              <a:spcBef>
                <a:spcPts val="2000"/>
              </a:spcBef>
            </a:pPr>
            <a:r>
              <a:rPr sz="1700">
                <a:solidFill>
                  <a:srgbClr val="3B5B92"/>
                </a:solidFill>
                <a:latin typeface="Calibri"/>
              </a:rPr>
              <a:t>▸  </a:t>
            </a:r>
            <a:r>
              <a:rPr sz="1800" b="1">
                <a:solidFill>
                  <a:srgbClr val="262B33"/>
                </a:solidFill>
                <a:latin typeface="Calibri"/>
              </a:rPr>
              <a:t>2.  Is the hard part executing the code, or building the graph?</a:t>
            </a:r>
            <a:r>
              <a:rPr sz="1800" b="0">
                <a:solidFill>
                  <a:srgbClr val="262B33"/>
                </a:solidFill>
                <a:latin typeface="Calibri"/>
              </a:rPr>
              <a:t>  The Phase-1 ablation answers this, and it decides where the rest of the effort goes.</a:t>
            </a:r>
          </a:p>
          <a:p>
            <a:pPr marL="274320" indent="-274320">
              <a:spcBef>
                <a:spcPts val="2000"/>
              </a:spcBef>
            </a:pPr>
            <a:r>
              <a:rPr sz="1700">
                <a:solidFill>
                  <a:srgbClr val="3B5B92"/>
                </a:solidFill>
                <a:latin typeface="Calibri"/>
              </a:rPr>
              <a:t>▸  </a:t>
            </a:r>
            <a:r>
              <a:rPr sz="1800" b="1">
                <a:solidFill>
                  <a:srgbClr val="262B33"/>
                </a:solidFill>
                <a:latin typeface="Calibri"/>
              </a:rPr>
              <a:t>3.  Prompting, fine-tuning or from scratch — best accuracy for the compute spent?</a:t>
            </a:r>
            <a:r>
              <a:rPr sz="1800" b="0">
                <a:solidFill>
                  <a:srgbClr val="262B33"/>
                </a:solidFill>
                <a:latin typeface="Calibri"/>
              </a:rPr>
              <a:t>  All three are scored by the same harness, so the comparison is fair.</a:t>
            </a:r>
          </a:p>
          <a:p>
            <a:pPr marL="274320" indent="-274320">
              <a:spcBef>
                <a:spcPts val="2000"/>
              </a:spcBef>
            </a:pPr>
            <a:r>
              <a:rPr sz="1700">
                <a:solidFill>
                  <a:srgbClr val="3B5B92"/>
                </a:solidFill>
                <a:latin typeface="Calibri"/>
              </a:rPr>
              <a:t>▸  </a:t>
            </a:r>
            <a:r>
              <a:rPr sz="1800" b="1">
                <a:solidFill>
                  <a:srgbClr val="262B33"/>
                </a:solidFill>
                <a:latin typeface="Calibri"/>
              </a:rPr>
              <a:t>4.  Do the models learn the rule, or memorise the pattern?</a:t>
            </a:r>
            <a:r>
              <a:rPr sz="1800" b="0">
                <a:solidFill>
                  <a:srgbClr val="262B33"/>
                </a:solidFill>
                <a:latin typeface="Calibri"/>
              </a:rPr>
              <a:t>  Tested on larger circuits, held-out language constructs, and real human-written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3764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4415" cy="20320"/>
          </a:xfrm>
          <a:prstGeom prst="rect">
            <a:avLst/>
          </a:prstGeom>
          <a:solidFill>
            <a:srgbClr val="C8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B5B92"/>
                </a:solidFill>
                <a:latin typeface="Calibri"/>
              </a:rPr>
              <a:t>Papers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[1]  Bahare Fatemi, Jonathan Halcrow and Bryan Perozzi. Talk like a Graph: Encoding Graphs for Large Language Models, arXiv preprint, 2023. https://arxiv.org/abs/2310.04560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[2]  Alex Gu, Baptiste Rozière, Hugh Leather, Armando Solar-Lezama, Gabriel Synnaeve and Sida I. Wang. CRUXEval: A Benchmark for Code Reasoning, Understanding and Execution, arXiv preprint, 2024. https://arxiv.org/abs/2401.03065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[3]  Sanjay Vishwakarma, Francis Harkins, Siddharth Golecha, Vishal Sharathchandra Bajpe, Nicolas Dupuis, Luca Buratti, David Kremer, Ismael Faro, Ruchir Puri and Juan Cruz-Benito. Qiskit HumanEval: An Evaluation Benchmark For Quantum Code Generative Models, arXiv preprint, 2024. https://arxiv.org/abs/2406.14712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[4]  Rui Yang, Ziruo Wang, Yuntian Gu, Tianyi Chen, Yitao Liang and Tongyang Li. QCircuitBench: A Large-Scale Dataset for Benchmarking Quantum Algorithm Design, arXiv preprint, 2024. https://arxiv.org/abs/2410.07961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[5]  Edward J. Hu, Yelong Shen, Phillip Wallis, Zeyuan Allen-Zhu, Yuanzhi Li, Shean Wang, Lu Wang and Weizhu Chen. LoRA: Low-Rank Adaptation of Large Language Models, arXiv preprint, 2021. https://arxiv.org/abs/2106.09685</a:t>
            </a:r>
          </a:p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1350" b="1" i="0">
                <a:solidFill>
                  <a:srgbClr val="3B5B92"/>
                </a:solidFill>
                <a:latin typeface="Calibri"/>
              </a:rPr>
              <a:t>Websites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[6]  Grant Sanderson (3Blue1Brown). https://www.youtube.com/playlist?list=PLZHQObOWTQDNU6R1_67000Dx_ZCJB-3pi. Accessed on: 20th September, 2026.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[7]  Andrej Karpathy. https://www.youtube.com/watch?v=zjkBMFhNj_g. Accessed on: 20th September, 2026.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[8]  Jay Alammar. https://jalammar.github.io/illustrated-transformer/. Accessed on: 20th September, 2026.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[9]  IBM Qiskit. https://quantum.cloud.ibm.com/docs/en/api/qiskit/qiskit.dagcircuit.DAGCircuit. Accessed on: 20th September, 2026.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[10]  Munich Quantum Toolkit. https://github.com/munich-quantum-toolkit/bench. Accessed on: 20th September, 2026.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262B33"/>
                </a:solidFill>
                <a:latin typeface="Calibri"/>
              </a:rPr>
              <a:t>[11]  Pacific Northwest National Laboratory. https://github.com/pnnl/QASMBench. Accessed on: 20th September,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IE 643 Course Project  ·  Team Pensieve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26E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